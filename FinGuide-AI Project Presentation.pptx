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1" r:id="rId5"/>
    <p:sldId id="262" r:id="rId6"/>
    <p:sldId id="263" r:id="rId7"/>
    <p:sldId id="264" r:id="rId8"/>
    <p:sldId id="265" r:id="rId9"/>
    <p:sldId id="266" r:id="rId10"/>
    <p:sldId id="267" r:id="rId11"/>
    <p:sldId id="268" r:id="rId12"/>
    <p:sldId id="269" r:id="rId13"/>
    <p:sldId id="270" r:id="rId14"/>
    <p:sldId id="274" r:id="rId15"/>
    <p:sldId id="275" r:id="rId16"/>
    <p:sldId id="26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0" userDrawn="1">
          <p15:clr>
            <a:srgbClr val="A4A3A4"/>
          </p15:clr>
        </p15:guide>
        <p15:guide id="2" pos="21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0F4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7" d="100"/>
          <a:sy n="97" d="100"/>
        </p:scale>
        <p:origin x="336" y="58"/>
      </p:cViewPr>
      <p:guideLst>
        <p:guide orient="horz" pos="210"/>
        <p:guide pos="21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3BC7A-8D8C-1023-5A56-24566D5CFB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86F300D-5253-39EB-F1F1-C771063438A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AA9623D-ABC6-2E5E-B519-C6C484758C85}"/>
              </a:ext>
            </a:extLst>
          </p:cNvPr>
          <p:cNvSpPr>
            <a:spLocks noGrp="1"/>
          </p:cNvSpPr>
          <p:nvPr>
            <p:ph type="dt" sz="half" idx="10"/>
          </p:nvPr>
        </p:nvSpPr>
        <p:spPr/>
        <p:txBody>
          <a:bodyPr/>
          <a:lstStyle/>
          <a:p>
            <a:fld id="{7F918B80-302A-46F9-A047-E20469637E55}" type="datetimeFigureOut">
              <a:rPr lang="en-IN" smtClean="0"/>
              <a:t>09-07-2026</a:t>
            </a:fld>
            <a:endParaRPr lang="en-IN"/>
          </a:p>
        </p:txBody>
      </p:sp>
      <p:sp>
        <p:nvSpPr>
          <p:cNvPr id="5" name="Footer Placeholder 4">
            <a:extLst>
              <a:ext uri="{FF2B5EF4-FFF2-40B4-BE49-F238E27FC236}">
                <a16:creationId xmlns:a16="http://schemas.microsoft.com/office/drawing/2014/main" id="{FCA65617-D271-6876-B64D-071CA3F6CF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036DE67-D46D-B888-3DC7-EBE22C92BC98}"/>
              </a:ext>
            </a:extLst>
          </p:cNvPr>
          <p:cNvSpPr>
            <a:spLocks noGrp="1"/>
          </p:cNvSpPr>
          <p:nvPr>
            <p:ph type="sldNum" sz="quarter" idx="12"/>
          </p:nvPr>
        </p:nvSpPr>
        <p:spPr/>
        <p:txBody>
          <a:bodyPr/>
          <a:lstStyle/>
          <a:p>
            <a:fld id="{39A392EF-5B99-4B2A-87AC-24DDA0E8166F}" type="slidenum">
              <a:rPr lang="en-IN" smtClean="0"/>
              <a:t>‹#›</a:t>
            </a:fld>
            <a:endParaRPr lang="en-IN"/>
          </a:p>
        </p:txBody>
      </p:sp>
    </p:spTree>
    <p:extLst>
      <p:ext uri="{BB962C8B-B14F-4D97-AF65-F5344CB8AC3E}">
        <p14:creationId xmlns:p14="http://schemas.microsoft.com/office/powerpoint/2010/main" val="6242234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6B21A-C402-A28A-7056-2CB35F609B0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2F1EF0A-A174-84E1-07CB-F47116A9364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4ABC2C1-66BC-443A-BA95-C29C3BEBDDB0}"/>
              </a:ext>
            </a:extLst>
          </p:cNvPr>
          <p:cNvSpPr>
            <a:spLocks noGrp="1"/>
          </p:cNvSpPr>
          <p:nvPr>
            <p:ph type="dt" sz="half" idx="10"/>
          </p:nvPr>
        </p:nvSpPr>
        <p:spPr/>
        <p:txBody>
          <a:bodyPr/>
          <a:lstStyle/>
          <a:p>
            <a:fld id="{7F918B80-302A-46F9-A047-E20469637E55}" type="datetimeFigureOut">
              <a:rPr lang="en-IN" smtClean="0"/>
              <a:t>09-07-2026</a:t>
            </a:fld>
            <a:endParaRPr lang="en-IN"/>
          </a:p>
        </p:txBody>
      </p:sp>
      <p:sp>
        <p:nvSpPr>
          <p:cNvPr id="5" name="Footer Placeholder 4">
            <a:extLst>
              <a:ext uri="{FF2B5EF4-FFF2-40B4-BE49-F238E27FC236}">
                <a16:creationId xmlns:a16="http://schemas.microsoft.com/office/drawing/2014/main" id="{86D2DCC2-ED5A-835F-09D7-4AF4A1019E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BA55735-FB7C-2432-1CE2-B6D4C07D76C8}"/>
              </a:ext>
            </a:extLst>
          </p:cNvPr>
          <p:cNvSpPr>
            <a:spLocks noGrp="1"/>
          </p:cNvSpPr>
          <p:nvPr>
            <p:ph type="sldNum" sz="quarter" idx="12"/>
          </p:nvPr>
        </p:nvSpPr>
        <p:spPr/>
        <p:txBody>
          <a:bodyPr/>
          <a:lstStyle/>
          <a:p>
            <a:fld id="{39A392EF-5B99-4B2A-87AC-24DDA0E8166F}" type="slidenum">
              <a:rPr lang="en-IN" smtClean="0"/>
              <a:t>‹#›</a:t>
            </a:fld>
            <a:endParaRPr lang="en-IN"/>
          </a:p>
        </p:txBody>
      </p:sp>
    </p:spTree>
    <p:extLst>
      <p:ext uri="{BB962C8B-B14F-4D97-AF65-F5344CB8AC3E}">
        <p14:creationId xmlns:p14="http://schemas.microsoft.com/office/powerpoint/2010/main" val="25825732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9A45E-9309-E468-59E9-487C987FB49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ED72586-E774-1BC2-C9E6-D34ADF191D5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BAF778C-73D1-3845-8B01-962D1B3510AE}"/>
              </a:ext>
            </a:extLst>
          </p:cNvPr>
          <p:cNvSpPr>
            <a:spLocks noGrp="1"/>
          </p:cNvSpPr>
          <p:nvPr>
            <p:ph type="dt" sz="half" idx="10"/>
          </p:nvPr>
        </p:nvSpPr>
        <p:spPr/>
        <p:txBody>
          <a:bodyPr/>
          <a:lstStyle/>
          <a:p>
            <a:fld id="{7F918B80-302A-46F9-A047-E20469637E55}" type="datetimeFigureOut">
              <a:rPr lang="en-IN" smtClean="0"/>
              <a:t>09-07-2026</a:t>
            </a:fld>
            <a:endParaRPr lang="en-IN"/>
          </a:p>
        </p:txBody>
      </p:sp>
      <p:sp>
        <p:nvSpPr>
          <p:cNvPr id="5" name="Footer Placeholder 4">
            <a:extLst>
              <a:ext uri="{FF2B5EF4-FFF2-40B4-BE49-F238E27FC236}">
                <a16:creationId xmlns:a16="http://schemas.microsoft.com/office/drawing/2014/main" id="{C23F22AE-E6A1-BB39-DF2B-3B47707C074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985799-E212-7377-7E00-78BB615639E1}"/>
              </a:ext>
            </a:extLst>
          </p:cNvPr>
          <p:cNvSpPr>
            <a:spLocks noGrp="1"/>
          </p:cNvSpPr>
          <p:nvPr>
            <p:ph type="sldNum" sz="quarter" idx="12"/>
          </p:nvPr>
        </p:nvSpPr>
        <p:spPr/>
        <p:txBody>
          <a:bodyPr/>
          <a:lstStyle/>
          <a:p>
            <a:fld id="{39A392EF-5B99-4B2A-87AC-24DDA0E8166F}" type="slidenum">
              <a:rPr lang="en-IN" smtClean="0"/>
              <a:t>‹#›</a:t>
            </a:fld>
            <a:endParaRPr lang="en-IN"/>
          </a:p>
        </p:txBody>
      </p:sp>
    </p:spTree>
    <p:extLst>
      <p:ext uri="{BB962C8B-B14F-4D97-AF65-F5344CB8AC3E}">
        <p14:creationId xmlns:p14="http://schemas.microsoft.com/office/powerpoint/2010/main" val="32993271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AFC22-38A6-4046-F537-2172ED64E5C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DC5C2AB-7E4B-B248-2309-D248A7A8DDE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CB4D047-D53F-E941-7900-333FCE216F0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D6B0D0D-99ED-5432-543B-1488DD3695AD}"/>
              </a:ext>
            </a:extLst>
          </p:cNvPr>
          <p:cNvSpPr>
            <a:spLocks noGrp="1"/>
          </p:cNvSpPr>
          <p:nvPr>
            <p:ph type="dt" sz="half" idx="10"/>
          </p:nvPr>
        </p:nvSpPr>
        <p:spPr/>
        <p:txBody>
          <a:bodyPr/>
          <a:lstStyle/>
          <a:p>
            <a:fld id="{7F918B80-302A-46F9-A047-E20469637E55}" type="datetimeFigureOut">
              <a:rPr lang="en-IN" smtClean="0"/>
              <a:t>09-07-2026</a:t>
            </a:fld>
            <a:endParaRPr lang="en-IN"/>
          </a:p>
        </p:txBody>
      </p:sp>
      <p:sp>
        <p:nvSpPr>
          <p:cNvPr id="6" name="Footer Placeholder 5">
            <a:extLst>
              <a:ext uri="{FF2B5EF4-FFF2-40B4-BE49-F238E27FC236}">
                <a16:creationId xmlns:a16="http://schemas.microsoft.com/office/drawing/2014/main" id="{E16EDE41-AF13-366F-9142-1E95B1DF7FC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25345D7-6957-D9B9-A81C-9549DD31EE0D}"/>
              </a:ext>
            </a:extLst>
          </p:cNvPr>
          <p:cNvSpPr>
            <a:spLocks noGrp="1"/>
          </p:cNvSpPr>
          <p:nvPr>
            <p:ph type="sldNum" sz="quarter" idx="12"/>
          </p:nvPr>
        </p:nvSpPr>
        <p:spPr/>
        <p:txBody>
          <a:bodyPr/>
          <a:lstStyle/>
          <a:p>
            <a:fld id="{39A392EF-5B99-4B2A-87AC-24DDA0E8166F}" type="slidenum">
              <a:rPr lang="en-IN" smtClean="0"/>
              <a:t>‹#›</a:t>
            </a:fld>
            <a:endParaRPr lang="en-IN"/>
          </a:p>
        </p:txBody>
      </p:sp>
    </p:spTree>
    <p:extLst>
      <p:ext uri="{BB962C8B-B14F-4D97-AF65-F5344CB8AC3E}">
        <p14:creationId xmlns:p14="http://schemas.microsoft.com/office/powerpoint/2010/main" val="36427914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220C2-8C54-A26B-AF4B-2B10F74C4E0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E29CA0C-011E-6D82-DFDC-2B8E115676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F502CA0-1629-A728-97E3-8FE889124F0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C312ABB-B4C5-4324-9C1D-3445E2B9EFB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FED182C-FFAA-2509-F457-638D2F7373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C6A11FF-4BC0-7C40-A988-AFA2CBE614D7}"/>
              </a:ext>
            </a:extLst>
          </p:cNvPr>
          <p:cNvSpPr>
            <a:spLocks noGrp="1"/>
          </p:cNvSpPr>
          <p:nvPr>
            <p:ph type="dt" sz="half" idx="10"/>
          </p:nvPr>
        </p:nvSpPr>
        <p:spPr/>
        <p:txBody>
          <a:bodyPr/>
          <a:lstStyle/>
          <a:p>
            <a:fld id="{7F918B80-302A-46F9-A047-E20469637E55}" type="datetimeFigureOut">
              <a:rPr lang="en-IN" smtClean="0"/>
              <a:t>09-07-2026</a:t>
            </a:fld>
            <a:endParaRPr lang="en-IN"/>
          </a:p>
        </p:txBody>
      </p:sp>
      <p:sp>
        <p:nvSpPr>
          <p:cNvPr id="8" name="Footer Placeholder 7">
            <a:extLst>
              <a:ext uri="{FF2B5EF4-FFF2-40B4-BE49-F238E27FC236}">
                <a16:creationId xmlns:a16="http://schemas.microsoft.com/office/drawing/2014/main" id="{58179E76-06B9-B8BE-AFFD-D0C8AE7BF2E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F0D10F4-92EE-2340-40F5-38E82A616A6D}"/>
              </a:ext>
            </a:extLst>
          </p:cNvPr>
          <p:cNvSpPr>
            <a:spLocks noGrp="1"/>
          </p:cNvSpPr>
          <p:nvPr>
            <p:ph type="sldNum" sz="quarter" idx="12"/>
          </p:nvPr>
        </p:nvSpPr>
        <p:spPr/>
        <p:txBody>
          <a:bodyPr/>
          <a:lstStyle/>
          <a:p>
            <a:fld id="{39A392EF-5B99-4B2A-87AC-24DDA0E8166F}" type="slidenum">
              <a:rPr lang="en-IN" smtClean="0"/>
              <a:t>‹#›</a:t>
            </a:fld>
            <a:endParaRPr lang="en-IN"/>
          </a:p>
        </p:txBody>
      </p:sp>
    </p:spTree>
    <p:extLst>
      <p:ext uri="{BB962C8B-B14F-4D97-AF65-F5344CB8AC3E}">
        <p14:creationId xmlns:p14="http://schemas.microsoft.com/office/powerpoint/2010/main" val="23770016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6890C-D297-E1B5-4184-5659A16CD2C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1F08979-D9F1-A0ED-3AE9-FF34DE0845F8}"/>
              </a:ext>
            </a:extLst>
          </p:cNvPr>
          <p:cNvSpPr>
            <a:spLocks noGrp="1"/>
          </p:cNvSpPr>
          <p:nvPr>
            <p:ph type="dt" sz="half" idx="10"/>
          </p:nvPr>
        </p:nvSpPr>
        <p:spPr/>
        <p:txBody>
          <a:bodyPr/>
          <a:lstStyle/>
          <a:p>
            <a:fld id="{7F918B80-302A-46F9-A047-E20469637E55}" type="datetimeFigureOut">
              <a:rPr lang="en-IN" smtClean="0"/>
              <a:t>09-07-2026</a:t>
            </a:fld>
            <a:endParaRPr lang="en-IN"/>
          </a:p>
        </p:txBody>
      </p:sp>
      <p:sp>
        <p:nvSpPr>
          <p:cNvPr id="4" name="Footer Placeholder 3">
            <a:extLst>
              <a:ext uri="{FF2B5EF4-FFF2-40B4-BE49-F238E27FC236}">
                <a16:creationId xmlns:a16="http://schemas.microsoft.com/office/drawing/2014/main" id="{2674696E-9ED6-8CF0-213E-5BEB0A6393B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1A57169-036D-F132-27C8-4B00B77387D7}"/>
              </a:ext>
            </a:extLst>
          </p:cNvPr>
          <p:cNvSpPr>
            <a:spLocks noGrp="1"/>
          </p:cNvSpPr>
          <p:nvPr>
            <p:ph type="sldNum" sz="quarter" idx="12"/>
          </p:nvPr>
        </p:nvSpPr>
        <p:spPr/>
        <p:txBody>
          <a:bodyPr/>
          <a:lstStyle/>
          <a:p>
            <a:fld id="{39A392EF-5B99-4B2A-87AC-24DDA0E8166F}" type="slidenum">
              <a:rPr lang="en-IN" smtClean="0"/>
              <a:t>‹#›</a:t>
            </a:fld>
            <a:endParaRPr lang="en-IN"/>
          </a:p>
        </p:txBody>
      </p:sp>
    </p:spTree>
    <p:extLst>
      <p:ext uri="{BB962C8B-B14F-4D97-AF65-F5344CB8AC3E}">
        <p14:creationId xmlns:p14="http://schemas.microsoft.com/office/powerpoint/2010/main" val="4450595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5C0A111-E3CD-8BDD-2612-6891DEA3F53A}"/>
              </a:ext>
            </a:extLst>
          </p:cNvPr>
          <p:cNvSpPr>
            <a:spLocks noGrp="1"/>
          </p:cNvSpPr>
          <p:nvPr>
            <p:ph type="dt" sz="half" idx="10"/>
          </p:nvPr>
        </p:nvSpPr>
        <p:spPr/>
        <p:txBody>
          <a:bodyPr/>
          <a:lstStyle/>
          <a:p>
            <a:fld id="{7F918B80-302A-46F9-A047-E20469637E55}" type="datetimeFigureOut">
              <a:rPr lang="en-IN" smtClean="0"/>
              <a:t>09-07-2026</a:t>
            </a:fld>
            <a:endParaRPr lang="en-IN"/>
          </a:p>
        </p:txBody>
      </p:sp>
      <p:sp>
        <p:nvSpPr>
          <p:cNvPr id="3" name="Footer Placeholder 2">
            <a:extLst>
              <a:ext uri="{FF2B5EF4-FFF2-40B4-BE49-F238E27FC236}">
                <a16:creationId xmlns:a16="http://schemas.microsoft.com/office/drawing/2014/main" id="{337ED811-80E6-1948-6669-758BDDCC564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4BC2784-2AF8-2007-234A-FFD38C97596D}"/>
              </a:ext>
            </a:extLst>
          </p:cNvPr>
          <p:cNvSpPr>
            <a:spLocks noGrp="1"/>
          </p:cNvSpPr>
          <p:nvPr>
            <p:ph type="sldNum" sz="quarter" idx="12"/>
          </p:nvPr>
        </p:nvSpPr>
        <p:spPr/>
        <p:txBody>
          <a:bodyPr/>
          <a:lstStyle/>
          <a:p>
            <a:fld id="{39A392EF-5B99-4B2A-87AC-24DDA0E8166F}" type="slidenum">
              <a:rPr lang="en-IN" smtClean="0"/>
              <a:t>‹#›</a:t>
            </a:fld>
            <a:endParaRPr lang="en-IN"/>
          </a:p>
        </p:txBody>
      </p:sp>
    </p:spTree>
    <p:extLst>
      <p:ext uri="{BB962C8B-B14F-4D97-AF65-F5344CB8AC3E}">
        <p14:creationId xmlns:p14="http://schemas.microsoft.com/office/powerpoint/2010/main" val="38898514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EF6A8-977C-BDB9-F961-65D1209030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E0A7C7A-18BB-EC8C-86CD-66DC6383FB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57F7227-EFD1-877A-4134-EE36C6F2BE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BD4EB4-C3D3-C80B-DBDB-B8018496E1E3}"/>
              </a:ext>
            </a:extLst>
          </p:cNvPr>
          <p:cNvSpPr>
            <a:spLocks noGrp="1"/>
          </p:cNvSpPr>
          <p:nvPr>
            <p:ph type="dt" sz="half" idx="10"/>
          </p:nvPr>
        </p:nvSpPr>
        <p:spPr/>
        <p:txBody>
          <a:bodyPr/>
          <a:lstStyle/>
          <a:p>
            <a:fld id="{7F918B80-302A-46F9-A047-E20469637E55}" type="datetimeFigureOut">
              <a:rPr lang="en-IN" smtClean="0"/>
              <a:t>09-07-2026</a:t>
            </a:fld>
            <a:endParaRPr lang="en-IN"/>
          </a:p>
        </p:txBody>
      </p:sp>
      <p:sp>
        <p:nvSpPr>
          <p:cNvPr id="6" name="Footer Placeholder 5">
            <a:extLst>
              <a:ext uri="{FF2B5EF4-FFF2-40B4-BE49-F238E27FC236}">
                <a16:creationId xmlns:a16="http://schemas.microsoft.com/office/drawing/2014/main" id="{7585EA3D-CBD2-E968-D8AB-6E68BDB1F66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4266AF4-6C0F-158A-066D-DC96BF961B1A}"/>
              </a:ext>
            </a:extLst>
          </p:cNvPr>
          <p:cNvSpPr>
            <a:spLocks noGrp="1"/>
          </p:cNvSpPr>
          <p:nvPr>
            <p:ph type="sldNum" sz="quarter" idx="12"/>
          </p:nvPr>
        </p:nvSpPr>
        <p:spPr/>
        <p:txBody>
          <a:bodyPr/>
          <a:lstStyle/>
          <a:p>
            <a:fld id="{39A392EF-5B99-4B2A-87AC-24DDA0E8166F}" type="slidenum">
              <a:rPr lang="en-IN" smtClean="0"/>
              <a:t>‹#›</a:t>
            </a:fld>
            <a:endParaRPr lang="en-IN"/>
          </a:p>
        </p:txBody>
      </p:sp>
    </p:spTree>
    <p:extLst>
      <p:ext uri="{BB962C8B-B14F-4D97-AF65-F5344CB8AC3E}">
        <p14:creationId xmlns:p14="http://schemas.microsoft.com/office/powerpoint/2010/main" val="34353498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41B93-7C89-D67B-7E05-6B534A1B62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B07E4A8-5D9B-79C4-9C27-5834092CFF8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FBA70A3-E35A-7051-47B0-6BEA2734EA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6256B3-684A-0AEA-129E-07B3CC39A379}"/>
              </a:ext>
            </a:extLst>
          </p:cNvPr>
          <p:cNvSpPr>
            <a:spLocks noGrp="1"/>
          </p:cNvSpPr>
          <p:nvPr>
            <p:ph type="dt" sz="half" idx="10"/>
          </p:nvPr>
        </p:nvSpPr>
        <p:spPr/>
        <p:txBody>
          <a:bodyPr/>
          <a:lstStyle/>
          <a:p>
            <a:fld id="{7F918B80-302A-46F9-A047-E20469637E55}" type="datetimeFigureOut">
              <a:rPr lang="en-IN" smtClean="0"/>
              <a:t>09-07-2026</a:t>
            </a:fld>
            <a:endParaRPr lang="en-IN"/>
          </a:p>
        </p:txBody>
      </p:sp>
      <p:sp>
        <p:nvSpPr>
          <p:cNvPr id="6" name="Footer Placeholder 5">
            <a:extLst>
              <a:ext uri="{FF2B5EF4-FFF2-40B4-BE49-F238E27FC236}">
                <a16:creationId xmlns:a16="http://schemas.microsoft.com/office/drawing/2014/main" id="{1210A646-1518-9166-F7A0-B0419B5C19F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2674CAA-0863-840E-B6B3-CF8976F59033}"/>
              </a:ext>
            </a:extLst>
          </p:cNvPr>
          <p:cNvSpPr>
            <a:spLocks noGrp="1"/>
          </p:cNvSpPr>
          <p:nvPr>
            <p:ph type="sldNum" sz="quarter" idx="12"/>
          </p:nvPr>
        </p:nvSpPr>
        <p:spPr/>
        <p:txBody>
          <a:bodyPr/>
          <a:lstStyle/>
          <a:p>
            <a:fld id="{39A392EF-5B99-4B2A-87AC-24DDA0E8166F}" type="slidenum">
              <a:rPr lang="en-IN" smtClean="0"/>
              <a:t>‹#›</a:t>
            </a:fld>
            <a:endParaRPr lang="en-IN"/>
          </a:p>
        </p:txBody>
      </p:sp>
    </p:spTree>
    <p:extLst>
      <p:ext uri="{BB962C8B-B14F-4D97-AF65-F5344CB8AC3E}">
        <p14:creationId xmlns:p14="http://schemas.microsoft.com/office/powerpoint/2010/main" val="7992666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B1D1B-B6C1-8307-461A-C9BCA4C5CDE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CC3197A-2D8F-A06D-538C-BF42F2810DD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9513898-1578-CE36-08CC-ECA47C7F45C3}"/>
              </a:ext>
            </a:extLst>
          </p:cNvPr>
          <p:cNvSpPr>
            <a:spLocks noGrp="1"/>
          </p:cNvSpPr>
          <p:nvPr>
            <p:ph type="dt" sz="half" idx="10"/>
          </p:nvPr>
        </p:nvSpPr>
        <p:spPr/>
        <p:txBody>
          <a:bodyPr/>
          <a:lstStyle/>
          <a:p>
            <a:fld id="{7F918B80-302A-46F9-A047-E20469637E55}" type="datetimeFigureOut">
              <a:rPr lang="en-IN" smtClean="0"/>
              <a:t>09-07-2026</a:t>
            </a:fld>
            <a:endParaRPr lang="en-IN"/>
          </a:p>
        </p:txBody>
      </p:sp>
      <p:sp>
        <p:nvSpPr>
          <p:cNvPr id="5" name="Footer Placeholder 4">
            <a:extLst>
              <a:ext uri="{FF2B5EF4-FFF2-40B4-BE49-F238E27FC236}">
                <a16:creationId xmlns:a16="http://schemas.microsoft.com/office/drawing/2014/main" id="{4802B733-7B4B-4D2A-EDE3-F7FAC6D141E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6F71AA7-54C6-CBA9-C8A6-D4E07656090F}"/>
              </a:ext>
            </a:extLst>
          </p:cNvPr>
          <p:cNvSpPr>
            <a:spLocks noGrp="1"/>
          </p:cNvSpPr>
          <p:nvPr>
            <p:ph type="sldNum" sz="quarter" idx="12"/>
          </p:nvPr>
        </p:nvSpPr>
        <p:spPr/>
        <p:txBody>
          <a:bodyPr/>
          <a:lstStyle/>
          <a:p>
            <a:fld id="{39A392EF-5B99-4B2A-87AC-24DDA0E8166F}" type="slidenum">
              <a:rPr lang="en-IN" smtClean="0"/>
              <a:t>‹#›</a:t>
            </a:fld>
            <a:endParaRPr lang="en-IN"/>
          </a:p>
        </p:txBody>
      </p:sp>
    </p:spTree>
    <p:extLst>
      <p:ext uri="{BB962C8B-B14F-4D97-AF65-F5344CB8AC3E}">
        <p14:creationId xmlns:p14="http://schemas.microsoft.com/office/powerpoint/2010/main" val="16636162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266ED84-617B-367B-E4D6-DFEC149DB52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91D956A-A31E-A2AD-4158-A310BD5392D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3982599-CEA1-8C8D-E99D-7BAD1AE09989}"/>
              </a:ext>
            </a:extLst>
          </p:cNvPr>
          <p:cNvSpPr>
            <a:spLocks noGrp="1"/>
          </p:cNvSpPr>
          <p:nvPr>
            <p:ph type="dt" sz="half" idx="10"/>
          </p:nvPr>
        </p:nvSpPr>
        <p:spPr/>
        <p:txBody>
          <a:bodyPr/>
          <a:lstStyle/>
          <a:p>
            <a:fld id="{7F918B80-302A-46F9-A047-E20469637E55}" type="datetimeFigureOut">
              <a:rPr lang="en-IN" smtClean="0"/>
              <a:t>09-07-2026</a:t>
            </a:fld>
            <a:endParaRPr lang="en-IN"/>
          </a:p>
        </p:txBody>
      </p:sp>
      <p:sp>
        <p:nvSpPr>
          <p:cNvPr id="5" name="Footer Placeholder 4">
            <a:extLst>
              <a:ext uri="{FF2B5EF4-FFF2-40B4-BE49-F238E27FC236}">
                <a16:creationId xmlns:a16="http://schemas.microsoft.com/office/drawing/2014/main" id="{1D088F17-03C3-CABF-035F-55CBBFDDF92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0880211-BAA7-421F-F72C-CE45C3A38140}"/>
              </a:ext>
            </a:extLst>
          </p:cNvPr>
          <p:cNvSpPr>
            <a:spLocks noGrp="1"/>
          </p:cNvSpPr>
          <p:nvPr>
            <p:ph type="sldNum" sz="quarter" idx="12"/>
          </p:nvPr>
        </p:nvSpPr>
        <p:spPr/>
        <p:txBody>
          <a:bodyPr/>
          <a:lstStyle/>
          <a:p>
            <a:fld id="{39A392EF-5B99-4B2A-87AC-24DDA0E8166F}" type="slidenum">
              <a:rPr lang="en-IN" smtClean="0"/>
              <a:t>‹#›</a:t>
            </a:fld>
            <a:endParaRPr lang="en-IN"/>
          </a:p>
        </p:txBody>
      </p:sp>
    </p:spTree>
    <p:extLst>
      <p:ext uri="{BB962C8B-B14F-4D97-AF65-F5344CB8AC3E}">
        <p14:creationId xmlns:p14="http://schemas.microsoft.com/office/powerpoint/2010/main" val="1367916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6BD242-DA31-12D4-7000-101C6BEAAC2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9201E01-5408-E5F2-81F0-8D872A7EA6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59D0136-5713-856D-745F-405F5BE7F5A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918B80-302A-46F9-A047-E20469637E55}" type="datetimeFigureOut">
              <a:rPr lang="en-IN" smtClean="0"/>
              <a:t>09-07-2026</a:t>
            </a:fld>
            <a:endParaRPr lang="en-IN"/>
          </a:p>
        </p:txBody>
      </p:sp>
      <p:sp>
        <p:nvSpPr>
          <p:cNvPr id="5" name="Footer Placeholder 4">
            <a:extLst>
              <a:ext uri="{FF2B5EF4-FFF2-40B4-BE49-F238E27FC236}">
                <a16:creationId xmlns:a16="http://schemas.microsoft.com/office/drawing/2014/main" id="{F0DC0CB3-BD78-B770-D151-E4C08BBE8C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6AB86A5-C115-7AB6-157A-DFB7ED0AA74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A392EF-5B99-4B2A-87AC-24DDA0E8166F}" type="slidenum">
              <a:rPr lang="en-IN" smtClean="0"/>
              <a:t>‹#›</a:t>
            </a:fld>
            <a:endParaRPr lang="en-IN"/>
          </a:p>
        </p:txBody>
      </p:sp>
    </p:spTree>
    <p:extLst>
      <p:ext uri="{BB962C8B-B14F-4D97-AF65-F5344CB8AC3E}">
        <p14:creationId xmlns:p14="http://schemas.microsoft.com/office/powerpoint/2010/main" val="1826003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mailto:vtharak88@gmail.co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fin-guide-ai-six.vercel.app/"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fin-guide-ai-six.vercel.app/" TargetMode="External"/><Relationship Id="rId2" Type="http://schemas.openxmlformats.org/officeDocument/2006/relationships/hyperlink" Target="https://github.com/vardhineeditharak/FinGuide-Ai"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A7E0A7A-6603-B46A-C27D-D75E4D67E0F7}"/>
              </a:ext>
            </a:extLst>
          </p:cNvPr>
          <p:cNvSpPr txBox="1"/>
          <p:nvPr/>
        </p:nvSpPr>
        <p:spPr>
          <a:xfrm>
            <a:off x="2271074" y="2274838"/>
            <a:ext cx="7649851" cy="2154436"/>
          </a:xfrm>
          <a:prstGeom prst="rect">
            <a:avLst/>
          </a:prstGeom>
          <a:noFill/>
        </p:spPr>
        <p:txBody>
          <a:bodyPr wrap="none" rtlCol="0">
            <a:spAutoFit/>
          </a:bodyPr>
          <a:lstStyle/>
          <a:p>
            <a:pPr algn="ctr"/>
            <a:r>
              <a:rPr lang="en-US" sz="4400" b="1" dirty="0">
                <a:latin typeface="Arial" panose="020B0604020202020204" pitchFamily="34" charset="0"/>
                <a:cs typeface="Arial" panose="020B0604020202020204" pitchFamily="34" charset="0"/>
              </a:rPr>
              <a:t>IBM University Engagement</a:t>
            </a:r>
          </a:p>
          <a:p>
            <a:pPr algn="ctr"/>
            <a:r>
              <a:rPr lang="en-US" sz="4400" b="1" dirty="0">
                <a:latin typeface="Arial" panose="020B0604020202020204" pitchFamily="34" charset="0"/>
                <a:cs typeface="Arial" panose="020B0604020202020204" pitchFamily="34" charset="0"/>
              </a:rPr>
              <a:t>Project Submission</a:t>
            </a:r>
          </a:p>
          <a:p>
            <a:pPr algn="ctr"/>
            <a:endParaRPr lang="en-US" sz="2800" dirty="0">
              <a:latin typeface="Arial" panose="020B0604020202020204" pitchFamily="34" charset="0"/>
              <a:cs typeface="Arial" panose="020B0604020202020204" pitchFamily="34" charset="0"/>
            </a:endParaRPr>
          </a:p>
          <a:p>
            <a:pPr algn="ctr"/>
            <a:r>
              <a:rPr lang="en-US" b="1" i="1" dirty="0">
                <a:solidFill>
                  <a:schemeClr val="tx1">
                    <a:lumMod val="50000"/>
                    <a:lumOff val="50000"/>
                  </a:schemeClr>
                </a:solidFill>
                <a:latin typeface="Arial" panose="020B0604020202020204" pitchFamily="34" charset="0"/>
                <a:cs typeface="Arial" panose="020B0604020202020204" pitchFamily="34" charset="0"/>
              </a:rPr>
              <a:t>“Exploring the Power of Agentic AI with IBM Granite and LangFlow”</a:t>
            </a:r>
            <a:endParaRPr lang="en-IN" b="1" i="1" dirty="0">
              <a:solidFill>
                <a:schemeClr val="tx1">
                  <a:lumMod val="50000"/>
                  <a:lumOff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588169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BAA55-0203-2E03-8805-34867715E445}"/>
              </a:ext>
            </a:extLst>
          </p:cNvPr>
          <p:cNvSpPr>
            <a:spLocks noGrp="1"/>
          </p:cNvSpPr>
          <p:nvPr>
            <p:ph type="title"/>
          </p:nvPr>
        </p:nvSpPr>
        <p:spPr/>
        <p:txBody>
          <a:bodyPr anchor="t"/>
          <a:lstStyle/>
          <a:p>
            <a:pPr>
              <a:lnSpc>
                <a:spcPct val="150000"/>
              </a:lnSpc>
            </a:pPr>
            <a:r>
              <a:rPr kumimoji="0" lang="en-IN" sz="2800" b="1" i="0" u="none" strike="noStrike" kern="1200" cap="none" spc="0" normalizeH="0" baseline="0" noProof="0" dirty="0">
                <a:ln>
                  <a:noFill/>
                </a:ln>
                <a:solidFill>
                  <a:prstClr val="black"/>
                </a:solidFill>
                <a:effectLst/>
                <a:uLnTx/>
                <a:uFillTx/>
                <a:latin typeface="Arial" panose="020B0604020202020204" pitchFamily="34" charset="0"/>
                <a:ea typeface="+mj-ea"/>
                <a:cs typeface="Arial" panose="020B0604020202020204" pitchFamily="34" charset="0"/>
              </a:rPr>
              <a:t>Project Title – </a:t>
            </a:r>
            <a:r>
              <a:rPr kumimoji="0" lang="en-IN" sz="2800" b="0" i="0" u="none" strike="noStrike" kern="1200" cap="none" spc="0" normalizeH="0" baseline="0" noProof="0" dirty="0" err="1">
                <a:ln>
                  <a:noFill/>
                </a:ln>
                <a:solidFill>
                  <a:prstClr val="black"/>
                </a:solidFill>
                <a:effectLst/>
                <a:uLnTx/>
                <a:uFillTx/>
                <a:latin typeface="Arial" panose="020B0604020202020204" pitchFamily="34" charset="0"/>
                <a:ea typeface="+mj-ea"/>
                <a:cs typeface="Arial" panose="020B0604020202020204" pitchFamily="34" charset="0"/>
              </a:rPr>
              <a:t>FinGuide</a:t>
            </a:r>
            <a:r>
              <a:rPr kumimoji="0" lang="en-IN" sz="2800" b="0" i="0" u="none" strike="noStrike" kern="1200" cap="none" spc="0" normalizeH="0" baseline="0" noProof="0" dirty="0">
                <a:ln>
                  <a:noFill/>
                </a:ln>
                <a:solidFill>
                  <a:prstClr val="black"/>
                </a:solidFill>
                <a:effectLst/>
                <a:uLnTx/>
                <a:uFillTx/>
                <a:latin typeface="Arial" panose="020B0604020202020204" pitchFamily="34" charset="0"/>
                <a:ea typeface="+mj-ea"/>
                <a:cs typeface="Arial" panose="020B0604020202020204" pitchFamily="34" charset="0"/>
              </a:rPr>
              <a:t>-AI</a:t>
            </a:r>
            <a:br>
              <a:rPr kumimoji="0" lang="en-IN" sz="2800" b="0" i="0" u="none" strike="noStrike" kern="1200" cap="none" spc="0" normalizeH="0" baseline="0" noProof="0" dirty="0">
                <a:ln>
                  <a:noFill/>
                </a:ln>
                <a:solidFill>
                  <a:prstClr val="black"/>
                </a:solidFill>
                <a:effectLst/>
                <a:uLnTx/>
                <a:uFillTx/>
                <a:latin typeface="Arial" panose="020B0604020202020204" pitchFamily="34" charset="0"/>
                <a:ea typeface="+mj-ea"/>
                <a:cs typeface="Arial" panose="020B0604020202020204" pitchFamily="34" charset="0"/>
              </a:rPr>
            </a:br>
            <a:r>
              <a:rPr kumimoji="0" lang="en-IN" sz="2800" b="1" i="0" u="none" strike="noStrike" kern="1200" cap="none" spc="0" normalizeH="0" baseline="0" noProof="0" dirty="0">
                <a:ln>
                  <a:noFill/>
                </a:ln>
                <a:solidFill>
                  <a:prstClr val="black"/>
                </a:solidFill>
                <a:effectLst/>
                <a:uLnTx/>
                <a:uFillTx/>
                <a:latin typeface="Arial" panose="020B0604020202020204" pitchFamily="34" charset="0"/>
                <a:ea typeface="+mj-ea"/>
                <a:cs typeface="Arial" panose="020B0604020202020204" pitchFamily="34" charset="0"/>
              </a:rPr>
              <a:t>Domain of Project - </a:t>
            </a:r>
            <a:r>
              <a:rPr kumimoji="0" lang="en-IN" sz="2800" b="0" i="0" u="none" strike="noStrike" kern="1200" cap="none" spc="0" normalizeH="0" baseline="0" noProof="0" dirty="0">
                <a:ln>
                  <a:noFill/>
                </a:ln>
                <a:solidFill>
                  <a:prstClr val="black"/>
                </a:solidFill>
                <a:effectLst/>
                <a:uLnTx/>
                <a:uFillTx/>
                <a:latin typeface="Arial" panose="020B0604020202020204" pitchFamily="34" charset="0"/>
                <a:ea typeface="+mj-ea"/>
                <a:cs typeface="Arial" panose="020B0604020202020204" pitchFamily="34" charset="0"/>
              </a:rPr>
              <a:t>Financial Literacy / FinTech</a:t>
            </a:r>
            <a:endParaRPr lang="en-IN" dirty="0"/>
          </a:p>
        </p:txBody>
      </p:sp>
      <p:graphicFrame>
        <p:nvGraphicFramePr>
          <p:cNvPr id="4" name="Content Placeholder 3">
            <a:extLst>
              <a:ext uri="{FF2B5EF4-FFF2-40B4-BE49-F238E27FC236}">
                <a16:creationId xmlns:a16="http://schemas.microsoft.com/office/drawing/2014/main" id="{DC01653A-2E52-D49F-9BA8-0B1B78B8C6C4}"/>
              </a:ext>
            </a:extLst>
          </p:cNvPr>
          <p:cNvGraphicFramePr>
            <a:graphicFrameLocks noGrp="1"/>
          </p:cNvGraphicFramePr>
          <p:nvPr>
            <p:ph idx="1"/>
            <p:extLst>
              <p:ext uri="{D42A27DB-BD31-4B8C-83A1-F6EECF244321}">
                <p14:modId xmlns:p14="http://schemas.microsoft.com/office/powerpoint/2010/main" val="3918184108"/>
              </p:ext>
            </p:extLst>
          </p:nvPr>
        </p:nvGraphicFramePr>
        <p:xfrm>
          <a:off x="838200" y="1825624"/>
          <a:ext cx="10515600" cy="3547592"/>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543374748"/>
                    </a:ext>
                  </a:extLst>
                </a:gridCol>
                <a:gridCol w="2628900">
                  <a:extLst>
                    <a:ext uri="{9D8B030D-6E8A-4147-A177-3AD203B41FA5}">
                      <a16:colId xmlns:a16="http://schemas.microsoft.com/office/drawing/2014/main" val="2419257988"/>
                    </a:ext>
                  </a:extLst>
                </a:gridCol>
                <a:gridCol w="2628900">
                  <a:extLst>
                    <a:ext uri="{9D8B030D-6E8A-4147-A177-3AD203B41FA5}">
                      <a16:colId xmlns:a16="http://schemas.microsoft.com/office/drawing/2014/main" val="899022004"/>
                    </a:ext>
                  </a:extLst>
                </a:gridCol>
                <a:gridCol w="2628900">
                  <a:extLst>
                    <a:ext uri="{9D8B030D-6E8A-4147-A177-3AD203B41FA5}">
                      <a16:colId xmlns:a16="http://schemas.microsoft.com/office/drawing/2014/main" val="1122851888"/>
                    </a:ext>
                  </a:extLst>
                </a:gridCol>
              </a:tblGrid>
              <a:tr h="875572">
                <a:tc>
                  <a:txBody>
                    <a:bodyPr/>
                    <a:lstStyle/>
                    <a:p>
                      <a:pPr algn="ctr"/>
                      <a:r>
                        <a:rPr lang="en-US" sz="2000" dirty="0"/>
                        <a:t>Student Name</a:t>
                      </a:r>
                      <a:endParaRPr lang="en-IN" sz="2000" dirty="0"/>
                    </a:p>
                  </a:txBody>
                  <a:tcPr marL="69881" marR="69881" marT="34940" marB="34940" anchor="ctr"/>
                </a:tc>
                <a:tc>
                  <a:txBody>
                    <a:bodyPr/>
                    <a:lstStyle/>
                    <a:p>
                      <a:pPr algn="ctr"/>
                      <a:r>
                        <a:rPr lang="en-IN" sz="2000" dirty="0"/>
                        <a:t>Recent Passport</a:t>
                      </a:r>
                    </a:p>
                    <a:p>
                      <a:pPr algn="ctr"/>
                      <a:r>
                        <a:rPr lang="en-IN" sz="2000" dirty="0"/>
                        <a:t>Photo</a:t>
                      </a:r>
                    </a:p>
                  </a:txBody>
                  <a:tcPr marL="69881" marR="69881" marT="34940" marB="34940" anchor="ctr"/>
                </a:tc>
                <a:tc>
                  <a:txBody>
                    <a:bodyPr/>
                    <a:lstStyle/>
                    <a:p>
                      <a:pPr algn="ctr"/>
                      <a:r>
                        <a:rPr lang="en-IN" sz="2000" dirty="0"/>
                        <a:t>Email ID</a:t>
                      </a:r>
                    </a:p>
                  </a:txBody>
                  <a:tcPr marL="69881" marR="69881" marT="34940" marB="34940" anchor="ctr"/>
                </a:tc>
                <a:tc>
                  <a:txBody>
                    <a:bodyPr/>
                    <a:lstStyle/>
                    <a:p>
                      <a:pPr algn="ctr"/>
                      <a:r>
                        <a:rPr lang="en-IN" sz="2000" dirty="0"/>
                        <a:t>Mobile number</a:t>
                      </a:r>
                    </a:p>
                    <a:p>
                      <a:pPr algn="ctr"/>
                      <a:r>
                        <a:rPr lang="en-IN" sz="2000" dirty="0"/>
                        <a:t>[WhatsApp]</a:t>
                      </a:r>
                    </a:p>
                  </a:txBody>
                  <a:tcPr marL="69881" marR="69881" marT="34940" marB="34940" anchor="ctr"/>
                </a:tc>
                <a:extLst>
                  <a:ext uri="{0D108BD9-81ED-4DB2-BD59-A6C34878D82A}">
                    <a16:rowId xmlns:a16="http://schemas.microsoft.com/office/drawing/2014/main" val="3242809185"/>
                  </a:ext>
                </a:extLst>
              </a:tr>
              <a:tr h="2672020">
                <a:tc>
                  <a:txBody>
                    <a:bodyPr/>
                    <a:lstStyle/>
                    <a:p>
                      <a:pPr algn="ctr"/>
                      <a:r>
                        <a:rPr lang="en-US" sz="2000" dirty="0"/>
                        <a:t>Vardhineedi Tharaka Venkata Gopal</a:t>
                      </a:r>
                      <a:endParaRPr lang="en-IN" sz="2000" dirty="0"/>
                    </a:p>
                  </a:txBody>
                  <a:tcPr marL="69881" marR="69881" marT="34940" marB="34940" anchor="ctr"/>
                </a:tc>
                <a:tc>
                  <a:txBody>
                    <a:bodyPr/>
                    <a:lstStyle/>
                    <a:p>
                      <a:pPr algn="ctr"/>
                      <a:endParaRPr lang="en-IN" sz="2000" dirty="0"/>
                    </a:p>
                  </a:txBody>
                  <a:tcPr marL="69881" marR="69881" marT="34940" marB="34940" anchor="ctr"/>
                </a:tc>
                <a:tc>
                  <a:txBody>
                    <a:bodyPr/>
                    <a:lstStyle/>
                    <a:p>
                      <a:pPr algn="ctr"/>
                      <a:r>
                        <a:rPr lang="en-US" sz="2000" dirty="0">
                          <a:hlinkClick r:id="rId2"/>
                        </a:rPr>
                        <a:t>vtharak88@gmail.com</a:t>
                      </a:r>
                      <a:endParaRPr lang="en-IN" sz="2000" dirty="0"/>
                    </a:p>
                  </a:txBody>
                  <a:tcPr marL="69881" marR="69881" marT="34940" marB="34940" anchor="ctr"/>
                </a:tc>
                <a:tc>
                  <a:txBody>
                    <a:bodyPr/>
                    <a:lstStyle/>
                    <a:p>
                      <a:pPr algn="ctr"/>
                      <a:r>
                        <a:rPr lang="en-US" sz="2000" dirty="0"/>
                        <a:t>+91 86885 66686</a:t>
                      </a:r>
                      <a:endParaRPr lang="en-IN" sz="2000" dirty="0"/>
                    </a:p>
                  </a:txBody>
                  <a:tcPr marL="69881" marR="69881" marT="34940" marB="34940" anchor="ctr"/>
                </a:tc>
                <a:extLst>
                  <a:ext uri="{0D108BD9-81ED-4DB2-BD59-A6C34878D82A}">
                    <a16:rowId xmlns:a16="http://schemas.microsoft.com/office/drawing/2014/main" val="2197044627"/>
                  </a:ext>
                </a:extLst>
              </a:tr>
            </a:tbl>
          </a:graphicData>
        </a:graphic>
      </p:graphicFrame>
      <p:pic>
        <p:nvPicPr>
          <p:cNvPr id="5" name="Picture 4">
            <a:extLst>
              <a:ext uri="{FF2B5EF4-FFF2-40B4-BE49-F238E27FC236}">
                <a16:creationId xmlns:a16="http://schemas.microsoft.com/office/drawing/2014/main" id="{173D42A9-4BFE-F417-276D-46FD683E60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07768" y="2996952"/>
            <a:ext cx="1512168" cy="1947877"/>
          </a:xfrm>
          <a:prstGeom prst="rect">
            <a:avLst/>
          </a:prstGeom>
        </p:spPr>
      </p:pic>
    </p:spTree>
    <p:extLst>
      <p:ext uri="{BB962C8B-B14F-4D97-AF65-F5344CB8AC3E}">
        <p14:creationId xmlns:p14="http://schemas.microsoft.com/office/powerpoint/2010/main" val="38524277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C973F-FBEB-BFB4-CB3F-20AA4EB1F866}"/>
              </a:ext>
            </a:extLst>
          </p:cNvPr>
          <p:cNvSpPr>
            <a:spLocks noGrp="1"/>
          </p:cNvSpPr>
          <p:nvPr>
            <p:ph type="title"/>
          </p:nvPr>
        </p:nvSpPr>
        <p:spPr>
          <a:xfrm>
            <a:off x="838200" y="333788"/>
            <a:ext cx="10515600" cy="502924"/>
          </a:xfrm>
        </p:spPr>
        <p:txBody>
          <a:bodyPr anchor="t">
            <a:normAutofit/>
          </a:bodyPr>
          <a:lstStyle/>
          <a:p>
            <a:r>
              <a:rPr lang="en-IN" sz="2800" b="1" u="sng" dirty="0">
                <a:latin typeface="Arial" panose="020B0604020202020204" pitchFamily="34" charset="0"/>
                <a:cs typeface="Arial" panose="020B0604020202020204" pitchFamily="34" charset="0"/>
              </a:rPr>
              <a:t>Problem Statement</a:t>
            </a:r>
            <a:r>
              <a:rPr lang="en-IN" sz="2800" b="1" dirty="0">
                <a:latin typeface="Arial" panose="020B0604020202020204" pitchFamily="34" charset="0"/>
                <a:cs typeface="Arial" panose="020B0604020202020204" pitchFamily="34" charset="0"/>
              </a:rPr>
              <a:t> - </a:t>
            </a:r>
            <a:r>
              <a:rPr lang="en-IN" sz="2000" dirty="0">
                <a:latin typeface="Arial" panose="020B0604020202020204" pitchFamily="34" charset="0"/>
                <a:cs typeface="Arial" panose="020B0604020202020204" pitchFamily="34" charset="0"/>
              </a:rPr>
              <a:t>FinGuide-AI</a:t>
            </a:r>
            <a:endParaRPr lang="en-IN" sz="1800" b="1"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2B11B994-8DEC-A30B-4A56-1E792DD9B002}"/>
              </a:ext>
            </a:extLst>
          </p:cNvPr>
          <p:cNvSpPr txBox="1"/>
          <p:nvPr/>
        </p:nvSpPr>
        <p:spPr>
          <a:xfrm flipH="1">
            <a:off x="838199" y="836712"/>
            <a:ext cx="10515599" cy="4401205"/>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The Challenge</a:t>
            </a:r>
          </a:p>
          <a:p>
            <a:r>
              <a:rPr lang="en-US" dirty="0">
                <a:latin typeface="Arial" panose="020B0604020202020204" pitchFamily="34" charset="0"/>
                <a:cs typeface="Arial" panose="020B0604020202020204" pitchFamily="34" charset="0"/>
              </a:rPr>
              <a:t>Digital financial tools are essential today, but many users struggle to navigate UPI, understand interest rates, manage budgets, and avoid online financial scams. Reliable information is scattered across government portals, banking websites, and educational platforms. Without personalized, real-time, and multilingual guidance, users from diverse backgrounds often fall victim to fraud or fail to make informed financial decisions.</a:t>
            </a:r>
          </a:p>
          <a:p>
            <a:endParaRPr lang="en-US" sz="1000"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Objective</a:t>
            </a:r>
          </a:p>
          <a:p>
            <a:r>
              <a:rPr lang="en-US" dirty="0">
                <a:latin typeface="Arial" panose="020B0604020202020204" pitchFamily="34" charset="0"/>
                <a:cs typeface="Arial" panose="020B0604020202020204" pitchFamily="34" charset="0"/>
              </a:rPr>
              <a:t>Build an AI-powered Digital Financial Literacy Agent powered by RAG (Retrieval-Augmented Generation) that:</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Retrieves reliable content on UPI usage, scam avoidance, interest rates, budgeting, and personal finance.</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Fetches data securely from government portals, banking websites, and educational platforms.</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Offers multilingual support so users can interact in their preferred language.</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Empowers users with personalized knowledge, protects them from fraud, and builds confidence in digital finance.</a:t>
            </a:r>
          </a:p>
        </p:txBody>
      </p:sp>
    </p:spTree>
    <p:extLst>
      <p:ext uri="{BB962C8B-B14F-4D97-AF65-F5344CB8AC3E}">
        <p14:creationId xmlns:p14="http://schemas.microsoft.com/office/powerpoint/2010/main" val="4879039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B364A-30A6-C33E-02C7-AB92CFFCE9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BFED2A-0E80-E591-60D2-58D97ED4B548}"/>
              </a:ext>
            </a:extLst>
          </p:cNvPr>
          <p:cNvSpPr>
            <a:spLocks noGrp="1"/>
          </p:cNvSpPr>
          <p:nvPr>
            <p:ph type="title"/>
          </p:nvPr>
        </p:nvSpPr>
        <p:spPr>
          <a:xfrm>
            <a:off x="838200" y="333788"/>
            <a:ext cx="10515600" cy="502924"/>
          </a:xfrm>
        </p:spPr>
        <p:txBody>
          <a:bodyPr anchor="t">
            <a:normAutofit/>
          </a:bodyPr>
          <a:lstStyle/>
          <a:p>
            <a:r>
              <a:rPr lang="en-IN" sz="2800" b="1" u="sng" dirty="0">
                <a:latin typeface="Arial" panose="020B0604020202020204" pitchFamily="34" charset="0"/>
                <a:cs typeface="Arial" panose="020B0604020202020204" pitchFamily="34" charset="0"/>
              </a:rPr>
              <a:t>Proposed Solution</a:t>
            </a:r>
            <a:r>
              <a:rPr lang="en-IN" sz="2800" b="1" dirty="0">
                <a:latin typeface="Arial" panose="020B0604020202020204" pitchFamily="34" charset="0"/>
                <a:cs typeface="Arial" panose="020B0604020202020204" pitchFamily="34" charset="0"/>
              </a:rPr>
              <a:t> - </a:t>
            </a:r>
            <a:r>
              <a:rPr lang="en-IN" sz="2000" dirty="0">
                <a:latin typeface="Arial" panose="020B0604020202020204" pitchFamily="34" charset="0"/>
                <a:cs typeface="Arial" panose="020B0604020202020204" pitchFamily="34" charset="0"/>
              </a:rPr>
              <a:t>AI-Powered Financial Literacy Agent</a:t>
            </a:r>
            <a:endParaRPr lang="en-IN" sz="1800" b="1"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EFC084B2-FF16-9BC9-1FA9-983F1DAC20DE}"/>
              </a:ext>
            </a:extLst>
          </p:cNvPr>
          <p:cNvSpPr txBox="1"/>
          <p:nvPr/>
        </p:nvSpPr>
        <p:spPr>
          <a:xfrm flipH="1">
            <a:off x="838199" y="836712"/>
            <a:ext cx="10515599" cy="5539978"/>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The proposed solution is an AI-powered Financial Literacy Agent built using LangFlow, IBM Cloud, and IBM Granite models to provide accessible, personalized, and culturally inclusive financial education.</a:t>
            </a:r>
          </a:p>
          <a:p>
            <a:endParaRPr lang="en-US" sz="1000"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At its core, the solution uses a Retrieval-Augmented Generation (RAG) pipeline to fetch accurate financial data from trusted sources like government portals and banks. This data is embedded and stored in a vector database, enabling the system to retrieve and summarize safe financial practices using Granite models.</a:t>
            </a:r>
          </a:p>
          <a:p>
            <a:endParaRPr lang="en-US" sz="1000"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The system features specialized agents:</a:t>
            </a:r>
          </a:p>
          <a:p>
            <a:pPr marL="342900" indent="-342900">
              <a:buFont typeface="+mj-lt"/>
              <a:buAutoNum type="arabicPeriod"/>
            </a:pPr>
            <a:r>
              <a:rPr lang="en-US" b="1" dirty="0">
                <a:latin typeface="Arial" panose="020B0604020202020204" pitchFamily="34" charset="0"/>
                <a:cs typeface="Arial" panose="020B0604020202020204" pitchFamily="34" charset="0"/>
              </a:rPr>
              <a:t>Financial Knowledge Agent:</a:t>
            </a:r>
            <a:r>
              <a:rPr lang="en-US" dirty="0">
                <a:latin typeface="Arial" panose="020B0604020202020204" pitchFamily="34" charset="0"/>
                <a:cs typeface="Arial" panose="020B0604020202020204" pitchFamily="34" charset="0"/>
              </a:rPr>
              <a:t> Retrieves accurate data on UPI, loans, and budgeting using RAG.</a:t>
            </a:r>
          </a:p>
          <a:p>
            <a:pPr marL="342900" indent="-342900">
              <a:buFont typeface="+mj-lt"/>
              <a:buAutoNum type="arabicPeriod"/>
            </a:pPr>
            <a:r>
              <a:rPr lang="en-US" b="1" dirty="0">
                <a:latin typeface="Arial" panose="020B0604020202020204" pitchFamily="34" charset="0"/>
                <a:cs typeface="Arial" panose="020B0604020202020204" pitchFamily="34" charset="0"/>
              </a:rPr>
              <a:t>Scam Prevention Agent:</a:t>
            </a:r>
            <a:r>
              <a:rPr lang="en-US" dirty="0">
                <a:latin typeface="Arial" panose="020B0604020202020204" pitchFamily="34" charset="0"/>
                <a:cs typeface="Arial" panose="020B0604020202020204" pitchFamily="34" charset="0"/>
              </a:rPr>
              <a:t> Identifies potential fraud patterns and educates users on safe digital transactions.</a:t>
            </a:r>
          </a:p>
          <a:p>
            <a:pPr marL="342900" indent="-342900">
              <a:buFont typeface="+mj-lt"/>
              <a:buAutoNum type="arabicPeriod"/>
            </a:pPr>
            <a:r>
              <a:rPr lang="en-US" b="1" dirty="0">
                <a:latin typeface="Arial" panose="020B0604020202020204" pitchFamily="34" charset="0"/>
                <a:cs typeface="Arial" panose="020B0604020202020204" pitchFamily="34" charset="0"/>
              </a:rPr>
              <a:t>Multilingual Advisory Agent:</a:t>
            </a:r>
            <a:r>
              <a:rPr lang="en-US" dirty="0">
                <a:latin typeface="Arial" panose="020B0604020202020204" pitchFamily="34" charset="0"/>
                <a:cs typeface="Arial" panose="020B0604020202020204" pitchFamily="34" charset="0"/>
              </a:rPr>
              <a:t> Translates and localizes financial concepts into the user's preferred language for inclusive interaction.</a:t>
            </a:r>
          </a:p>
          <a:p>
            <a:pPr marL="342900" indent="-342900">
              <a:buFont typeface="+mj-lt"/>
              <a:buAutoNum type="arabicPeriod"/>
            </a:pPr>
            <a:r>
              <a:rPr lang="en-US" b="1" dirty="0">
                <a:latin typeface="Arial" panose="020B0604020202020204" pitchFamily="34" charset="0"/>
                <a:cs typeface="Arial" panose="020B0604020202020204" pitchFamily="34" charset="0"/>
              </a:rPr>
              <a:t>Personal Finance Agent:</a:t>
            </a:r>
            <a:r>
              <a:rPr lang="en-US" dirty="0">
                <a:latin typeface="Arial" panose="020B0604020202020204" pitchFamily="34" charset="0"/>
                <a:cs typeface="Arial" panose="020B0604020202020204" pitchFamily="34" charset="0"/>
              </a:rPr>
              <a:t> Guides users on budgeting, interest rates, and personal finance management.</a:t>
            </a:r>
          </a:p>
          <a:p>
            <a:endParaRPr lang="en-US" sz="1000"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The solution includes a user-friendly web interface (deployed on Vercel) that allows users to ask questions like “How do I send money via UPI?” or “What is a safe interest rate for a loan?” LangFlow orchestrates agent workflows, while IBM Cloud ensures scalable and secure deployment.</a:t>
            </a:r>
          </a:p>
        </p:txBody>
      </p:sp>
    </p:spTree>
    <p:extLst>
      <p:ext uri="{BB962C8B-B14F-4D97-AF65-F5344CB8AC3E}">
        <p14:creationId xmlns:p14="http://schemas.microsoft.com/office/powerpoint/2010/main" val="32545019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F0150-DD42-ADF8-CEEA-BD42D3798A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4BBF67-F8AA-6697-6EF8-C3F1B886D43C}"/>
              </a:ext>
            </a:extLst>
          </p:cNvPr>
          <p:cNvSpPr>
            <a:spLocks noGrp="1"/>
          </p:cNvSpPr>
          <p:nvPr>
            <p:ph type="title"/>
          </p:nvPr>
        </p:nvSpPr>
        <p:spPr>
          <a:xfrm>
            <a:off x="838200" y="333788"/>
            <a:ext cx="10515600" cy="502924"/>
          </a:xfrm>
        </p:spPr>
        <p:txBody>
          <a:bodyPr anchor="t">
            <a:normAutofit/>
          </a:bodyPr>
          <a:lstStyle/>
          <a:p>
            <a:r>
              <a:rPr lang="en-IN" sz="2800" b="1" u="sng" dirty="0">
                <a:latin typeface="Arial" panose="020B0604020202020204" pitchFamily="34" charset="0"/>
                <a:cs typeface="Arial" panose="020B0604020202020204" pitchFamily="34" charset="0"/>
              </a:rPr>
              <a:t>Technology Used</a:t>
            </a:r>
            <a:endParaRPr lang="en-IN" sz="1800" b="1" u="sng"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02E796A6-5DCC-4550-F557-735487C730CF}"/>
              </a:ext>
            </a:extLst>
          </p:cNvPr>
          <p:cNvSpPr txBox="1"/>
          <p:nvPr/>
        </p:nvSpPr>
        <p:spPr>
          <a:xfrm flipH="1">
            <a:off x="838199" y="836712"/>
            <a:ext cx="10515599" cy="5546390"/>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b="1" dirty="0" err="1">
                <a:latin typeface="Arial" panose="020B0604020202020204" pitchFamily="34" charset="0"/>
                <a:cs typeface="Arial" panose="020B0604020202020204" pitchFamily="34" charset="0"/>
              </a:rPr>
              <a:t>Langflow</a:t>
            </a:r>
            <a:r>
              <a:rPr lang="en-US" b="1" dirty="0">
                <a:latin typeface="Arial" panose="020B0604020202020204" pitchFamily="34" charset="0"/>
                <a:cs typeface="Arial" panose="020B0604020202020204" pitchFamily="34" charset="0"/>
              </a:rPr>
              <a:t> Platform:</a:t>
            </a:r>
            <a:r>
              <a:rPr lang="en-US" dirty="0">
                <a:latin typeface="Arial" panose="020B0604020202020204" pitchFamily="34" charset="0"/>
                <a:cs typeface="Arial" panose="020B0604020202020204" pitchFamily="34" charset="0"/>
              </a:rPr>
              <a:t> For designing and orchestrating multi-agent workflows visually.</a:t>
            </a:r>
          </a:p>
          <a:p>
            <a:pPr marL="285750" indent="-285750">
              <a:lnSpc>
                <a:spcPct val="200000"/>
              </a:lnSpc>
              <a:buFont typeface="Arial" panose="020B0604020202020204" pitchFamily="34" charset="0"/>
              <a:buChar char="•"/>
            </a:pPr>
            <a:r>
              <a:rPr lang="en-US" b="1" dirty="0">
                <a:latin typeface="Arial" panose="020B0604020202020204" pitchFamily="34" charset="0"/>
                <a:cs typeface="Arial" panose="020B0604020202020204" pitchFamily="34" charset="0"/>
              </a:rPr>
              <a:t>IBM Granite Model:</a:t>
            </a:r>
            <a:r>
              <a:rPr lang="en-US" dirty="0">
                <a:latin typeface="Arial" panose="020B0604020202020204" pitchFamily="34" charset="0"/>
                <a:cs typeface="Arial" panose="020B0604020202020204" pitchFamily="34" charset="0"/>
              </a:rPr>
              <a:t> (e.g., ibm-granite-3-2-8b) – For natural language understanding, reasoning, and multilingual personalization.</a:t>
            </a:r>
          </a:p>
          <a:p>
            <a:pPr marL="285750" indent="-285750">
              <a:lnSpc>
                <a:spcPct val="200000"/>
              </a:lnSpc>
              <a:buFont typeface="Arial" panose="020B0604020202020204" pitchFamily="34" charset="0"/>
              <a:buChar char="•"/>
            </a:pPr>
            <a:r>
              <a:rPr lang="en-US" b="1" dirty="0">
                <a:latin typeface="Arial" panose="020B0604020202020204" pitchFamily="34" charset="0"/>
                <a:cs typeface="Arial" panose="020B0604020202020204" pitchFamily="34" charset="0"/>
              </a:rPr>
              <a:t>IBM Cloud:</a:t>
            </a:r>
            <a:r>
              <a:rPr lang="en-US" dirty="0">
                <a:latin typeface="Arial" panose="020B0604020202020204" pitchFamily="34" charset="0"/>
                <a:cs typeface="Arial" panose="020B0604020202020204" pitchFamily="34" charset="0"/>
              </a:rPr>
              <a:t> Provides the infrastructure to build, deploy, and scale the FinGuide-AI agent efficiently in a secure environment.</a:t>
            </a:r>
          </a:p>
          <a:p>
            <a:pPr marL="285750" indent="-285750">
              <a:lnSpc>
                <a:spcPct val="200000"/>
              </a:lnSpc>
              <a:buFont typeface="Arial" panose="020B0604020202020204" pitchFamily="34" charset="0"/>
              <a:buChar char="•"/>
            </a:pPr>
            <a:r>
              <a:rPr lang="en-US" b="1" dirty="0">
                <a:latin typeface="Arial" panose="020B0604020202020204" pitchFamily="34" charset="0"/>
                <a:cs typeface="Arial" panose="020B0604020202020204" pitchFamily="34" charset="0"/>
              </a:rPr>
              <a:t>RAG (Retrieval-Augmented Generation):</a:t>
            </a:r>
            <a:r>
              <a:rPr lang="en-US" dirty="0">
                <a:latin typeface="Arial" panose="020B0604020202020204" pitchFamily="34" charset="0"/>
                <a:cs typeface="Arial" panose="020B0604020202020204" pitchFamily="34" charset="0"/>
              </a:rPr>
              <a:t> Fetches real, verified financial data first, then generates intelligent answers, making the agent trustworthy and fraud-resistant.</a:t>
            </a:r>
          </a:p>
          <a:p>
            <a:pPr marL="285750" indent="-285750">
              <a:lnSpc>
                <a:spcPct val="200000"/>
              </a:lnSpc>
              <a:buFont typeface="Arial" panose="020B0604020202020204" pitchFamily="34" charset="0"/>
              <a:buChar char="•"/>
            </a:pPr>
            <a:r>
              <a:rPr lang="en-US" b="1" dirty="0">
                <a:latin typeface="Arial" panose="020B0604020202020204" pitchFamily="34" charset="0"/>
                <a:cs typeface="Arial" panose="020B0604020202020204" pitchFamily="34" charset="0"/>
              </a:rPr>
              <a:t>Vector Database (FAISS/Chroma):</a:t>
            </a:r>
            <a:r>
              <a:rPr lang="en-US" dirty="0">
                <a:latin typeface="Arial" panose="020B0604020202020204" pitchFamily="34" charset="0"/>
                <a:cs typeface="Arial" panose="020B0604020202020204" pitchFamily="34" charset="0"/>
              </a:rPr>
              <a:t> For RAG-based financial data retrieval from government and banking sources.</a:t>
            </a:r>
          </a:p>
          <a:p>
            <a:pPr marL="285750" indent="-285750">
              <a:lnSpc>
                <a:spcPct val="200000"/>
              </a:lnSpc>
              <a:buFont typeface="Arial" panose="020B0604020202020204" pitchFamily="34" charset="0"/>
              <a:buChar char="•"/>
            </a:pPr>
            <a:r>
              <a:rPr lang="en-US" b="1" dirty="0">
                <a:latin typeface="Arial" panose="020B0604020202020204" pitchFamily="34" charset="0"/>
                <a:cs typeface="Arial" panose="020B0604020202020204" pitchFamily="34" charset="0"/>
              </a:rPr>
              <a:t>Frontend/Deployment:</a:t>
            </a:r>
            <a:r>
              <a:rPr lang="en-US" dirty="0">
                <a:latin typeface="Arial" panose="020B0604020202020204" pitchFamily="34" charset="0"/>
                <a:cs typeface="Arial" panose="020B0604020202020204" pitchFamily="34" charset="0"/>
              </a:rPr>
              <a:t> React/Vercel (Deployed Link: </a:t>
            </a:r>
            <a:r>
              <a:rPr lang="en-US" dirty="0">
                <a:latin typeface="Arial" panose="020B0604020202020204" pitchFamily="34" charset="0"/>
                <a:cs typeface="Arial" panose="020B0604020202020204" pitchFamily="34" charset="0"/>
                <a:hlinkClick r:id="rId2"/>
              </a:rPr>
              <a:t>https://fin-guide-ai-six.vercel.app/</a:t>
            </a:r>
            <a:r>
              <a:rPr lang="en-US"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3577052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37B6D-7A8F-CD77-9A7F-8CEBC6B8B0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2450E2-E509-3007-71C9-81A349E19E06}"/>
              </a:ext>
            </a:extLst>
          </p:cNvPr>
          <p:cNvSpPr>
            <a:spLocks noGrp="1"/>
          </p:cNvSpPr>
          <p:nvPr>
            <p:ph type="title"/>
          </p:nvPr>
        </p:nvSpPr>
        <p:spPr>
          <a:xfrm>
            <a:off x="838200" y="333788"/>
            <a:ext cx="10515600" cy="502924"/>
          </a:xfrm>
        </p:spPr>
        <p:txBody>
          <a:bodyPr anchor="t">
            <a:normAutofit/>
          </a:bodyPr>
          <a:lstStyle/>
          <a:p>
            <a:r>
              <a:rPr lang="en-IN" sz="2800" b="1" u="sng" dirty="0" err="1">
                <a:latin typeface="Arial" panose="020B0604020202020204" pitchFamily="34" charset="0"/>
                <a:cs typeface="Arial" panose="020B0604020202020204" pitchFamily="34" charset="0"/>
              </a:rPr>
              <a:t>Langflow</a:t>
            </a:r>
            <a:r>
              <a:rPr lang="en-IN" sz="2800" b="1" u="sng" dirty="0">
                <a:latin typeface="Arial" panose="020B0604020202020204" pitchFamily="34" charset="0"/>
                <a:cs typeface="Arial" panose="020B0604020202020204" pitchFamily="34" charset="0"/>
              </a:rPr>
              <a:t> Component Used</a:t>
            </a:r>
            <a:endParaRPr lang="en-IN" sz="1800" b="1" u="sng"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C7D08CD2-CFAA-7E02-8E72-BE73B3E6E4A3}"/>
              </a:ext>
            </a:extLst>
          </p:cNvPr>
          <p:cNvSpPr txBox="1"/>
          <p:nvPr/>
        </p:nvSpPr>
        <p:spPr>
          <a:xfrm flipH="1">
            <a:off x="838199" y="836712"/>
            <a:ext cx="10515599" cy="4611519"/>
          </a:xfrm>
          <a:prstGeom prst="rect">
            <a:avLst/>
          </a:prstGeom>
          <a:noFill/>
        </p:spPr>
        <p:txBody>
          <a:bodyPr wrap="square" rtlCol="0">
            <a:spAutoFit/>
          </a:bodyPr>
          <a:lstStyle/>
          <a:p>
            <a:pPr marL="342900" indent="-342900">
              <a:lnSpc>
                <a:spcPct val="150000"/>
              </a:lnSpc>
              <a:buFont typeface="+mj-lt"/>
              <a:buAutoNum type="arabicPeriod"/>
            </a:pPr>
            <a:r>
              <a:rPr lang="en-US" b="1" dirty="0">
                <a:latin typeface="Arial" panose="020B0604020202020204" pitchFamily="34" charset="0"/>
                <a:cs typeface="Arial" panose="020B0604020202020204" pitchFamily="34" charset="0"/>
              </a:rPr>
              <a:t>Chat Input: </a:t>
            </a:r>
            <a:r>
              <a:rPr lang="en-US" dirty="0">
                <a:latin typeface="Arial" panose="020B0604020202020204" pitchFamily="34" charset="0"/>
                <a:cs typeface="Arial" panose="020B0604020202020204" pitchFamily="34" charset="0"/>
              </a:rPr>
              <a:t>Interface where users enter their financial queries (e.g., "How to avoid UPI scams?") via text.</a:t>
            </a:r>
          </a:p>
          <a:p>
            <a:pPr marL="342900" indent="-342900">
              <a:lnSpc>
                <a:spcPct val="150000"/>
              </a:lnSpc>
              <a:buFont typeface="+mj-lt"/>
              <a:buAutoNum type="arabicPeriod"/>
            </a:pPr>
            <a:r>
              <a:rPr lang="en-US" b="1" dirty="0">
                <a:latin typeface="Arial" panose="020B0604020202020204" pitchFamily="34" charset="0"/>
                <a:cs typeface="Arial" panose="020B0604020202020204" pitchFamily="34" charset="0"/>
              </a:rPr>
              <a:t>IBM </a:t>
            </a:r>
            <a:r>
              <a:rPr lang="en-US" b="1" dirty="0" err="1">
                <a:latin typeface="Arial" panose="020B0604020202020204" pitchFamily="34" charset="0"/>
                <a:cs typeface="Arial" panose="020B0604020202020204" pitchFamily="34" charset="0"/>
              </a:rPr>
              <a:t>watsonx</a:t>
            </a:r>
            <a:r>
              <a:rPr lang="en-US" b="1" dirty="0">
                <a:latin typeface="Arial" panose="020B0604020202020204" pitchFamily="34" charset="0"/>
                <a:cs typeface="Arial" panose="020B0604020202020204" pitchFamily="34" charset="0"/>
              </a:rPr>
              <a:t> AI Agent:</a:t>
            </a:r>
            <a:r>
              <a:rPr lang="en-US" dirty="0">
                <a:latin typeface="Arial" panose="020B0604020202020204" pitchFamily="34" charset="0"/>
                <a:cs typeface="Arial" panose="020B0604020202020204" pitchFamily="34" charset="0"/>
              </a:rPr>
              <a:t> Processes user input using Granite models to generate personalized financial insights.</a:t>
            </a:r>
          </a:p>
          <a:p>
            <a:pPr marL="342900" indent="-342900">
              <a:lnSpc>
                <a:spcPct val="150000"/>
              </a:lnSpc>
              <a:buFont typeface="+mj-lt"/>
              <a:buAutoNum type="arabicPeriod"/>
            </a:pPr>
            <a:r>
              <a:rPr lang="en-US" b="1" dirty="0">
                <a:latin typeface="Arial" panose="020B0604020202020204" pitchFamily="34" charset="0"/>
                <a:cs typeface="Arial" panose="020B0604020202020204" pitchFamily="34" charset="0"/>
              </a:rPr>
              <a:t>Name of IBM Granite model:</a:t>
            </a:r>
            <a:r>
              <a:rPr lang="en-US" dirty="0">
                <a:latin typeface="Arial" panose="020B0604020202020204" pitchFamily="34" charset="0"/>
                <a:cs typeface="Arial" panose="020B0604020202020204" pitchFamily="34" charset="0"/>
              </a:rPr>
              <a:t> Granite-4.0-8B-Instruct (or equivalent) → Fast, efficient for real-time multilingual financial recommendations.</a:t>
            </a:r>
          </a:p>
          <a:p>
            <a:pPr marL="342900" indent="-342900">
              <a:lnSpc>
                <a:spcPct val="150000"/>
              </a:lnSpc>
              <a:buFont typeface="+mj-lt"/>
              <a:buAutoNum type="arabicPeriod"/>
            </a:pPr>
            <a:r>
              <a:rPr lang="en-US" b="1" dirty="0">
                <a:latin typeface="Arial" panose="020B0604020202020204" pitchFamily="34" charset="0"/>
                <a:cs typeface="Arial" panose="020B0604020202020204" pitchFamily="34" charset="0"/>
              </a:rPr>
              <a:t>Chat Output:</a:t>
            </a:r>
            <a:r>
              <a:rPr lang="en-US" dirty="0">
                <a:latin typeface="Arial" panose="020B0604020202020204" pitchFamily="34" charset="0"/>
                <a:cs typeface="Arial" panose="020B0604020202020204" pitchFamily="34" charset="0"/>
              </a:rPr>
              <a:t> Displays AI-generated responses such as step-by-step UPI guides, budget plans, and scam alerts.</a:t>
            </a:r>
          </a:p>
          <a:p>
            <a:pPr marL="342900" indent="-342900">
              <a:lnSpc>
                <a:spcPct val="150000"/>
              </a:lnSpc>
              <a:buFont typeface="+mj-lt"/>
              <a:buAutoNum type="arabicPeriod"/>
            </a:pPr>
            <a:r>
              <a:rPr lang="en-US" b="1" dirty="0">
                <a:latin typeface="Arial" panose="020B0604020202020204" pitchFamily="34" charset="0"/>
                <a:cs typeface="Arial" panose="020B0604020202020204" pitchFamily="34" charset="0"/>
              </a:rPr>
              <a:t>File/URL Component:</a:t>
            </a:r>
            <a:r>
              <a:rPr lang="en-US" dirty="0">
                <a:latin typeface="Arial" panose="020B0604020202020204" pitchFamily="34" charset="0"/>
                <a:cs typeface="Arial" panose="020B0604020202020204" pitchFamily="34" charset="0"/>
              </a:rPr>
              <a:t> Fetches and stores reliable financial documents from government portals and banking websites for RAG.</a:t>
            </a:r>
          </a:p>
          <a:p>
            <a:pPr marL="342900" indent="-342900">
              <a:lnSpc>
                <a:spcPct val="150000"/>
              </a:lnSpc>
              <a:buFont typeface="+mj-lt"/>
              <a:buAutoNum type="arabicPeriod"/>
            </a:pPr>
            <a:r>
              <a:rPr lang="en-US" b="1" dirty="0">
                <a:latin typeface="Arial" panose="020B0604020202020204" pitchFamily="34" charset="0"/>
                <a:cs typeface="Arial" panose="020B0604020202020204" pitchFamily="34" charset="0"/>
              </a:rPr>
              <a:t>Vector Store Retriever:</a:t>
            </a:r>
            <a:r>
              <a:rPr lang="en-US" dirty="0">
                <a:latin typeface="Arial" panose="020B0604020202020204" pitchFamily="34" charset="0"/>
                <a:cs typeface="Arial" panose="020B0604020202020204" pitchFamily="34" charset="0"/>
              </a:rPr>
              <a:t> Connects to the vector database to fetch relevant financial context.</a:t>
            </a:r>
          </a:p>
        </p:txBody>
      </p:sp>
    </p:spTree>
    <p:extLst>
      <p:ext uri="{BB962C8B-B14F-4D97-AF65-F5344CB8AC3E}">
        <p14:creationId xmlns:p14="http://schemas.microsoft.com/office/powerpoint/2010/main" val="19982408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73581-F7FC-698A-B9A1-BA4964ACCF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D8BCA3-BD62-91D9-3827-7E84B89EFCE6}"/>
              </a:ext>
            </a:extLst>
          </p:cNvPr>
          <p:cNvSpPr>
            <a:spLocks noGrp="1"/>
          </p:cNvSpPr>
          <p:nvPr>
            <p:ph type="title"/>
          </p:nvPr>
        </p:nvSpPr>
        <p:spPr>
          <a:xfrm>
            <a:off x="838200" y="333788"/>
            <a:ext cx="10515600" cy="502924"/>
          </a:xfrm>
        </p:spPr>
        <p:txBody>
          <a:bodyPr anchor="t">
            <a:normAutofit/>
          </a:bodyPr>
          <a:lstStyle/>
          <a:p>
            <a:r>
              <a:rPr lang="en-IN" sz="2800" b="1" u="sng" dirty="0" err="1">
                <a:latin typeface="Arial" panose="020B0604020202020204" pitchFamily="34" charset="0"/>
                <a:cs typeface="Arial" panose="020B0604020202020204" pitchFamily="34" charset="0"/>
              </a:rPr>
              <a:t>Langflow</a:t>
            </a:r>
            <a:r>
              <a:rPr lang="en-IN" sz="2800" b="1" u="sng" dirty="0">
                <a:latin typeface="Arial" panose="020B0604020202020204" pitchFamily="34" charset="0"/>
                <a:cs typeface="Arial" panose="020B0604020202020204" pitchFamily="34" charset="0"/>
              </a:rPr>
              <a:t> Workflow</a:t>
            </a:r>
            <a:endParaRPr lang="en-IN" sz="1800" b="1" u="sng"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BC598A6E-4A01-E7BF-8D53-EB00180B79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980728"/>
            <a:ext cx="10515600" cy="5185898"/>
          </a:xfrm>
          <a:prstGeom prst="rect">
            <a:avLst/>
          </a:prstGeom>
        </p:spPr>
      </p:pic>
      <p:sp>
        <p:nvSpPr>
          <p:cNvPr id="13" name="Rectangle 12">
            <a:extLst>
              <a:ext uri="{FF2B5EF4-FFF2-40B4-BE49-F238E27FC236}">
                <a16:creationId xmlns:a16="http://schemas.microsoft.com/office/drawing/2014/main" id="{12EC56AA-988C-4301-824D-7F030A6F808B}"/>
              </a:ext>
            </a:extLst>
          </p:cNvPr>
          <p:cNvSpPr/>
          <p:nvPr/>
        </p:nvSpPr>
        <p:spPr>
          <a:xfrm>
            <a:off x="983432" y="5877272"/>
            <a:ext cx="1440160" cy="216024"/>
          </a:xfrm>
          <a:prstGeom prst="rect">
            <a:avLst/>
          </a:prstGeom>
          <a:solidFill>
            <a:srgbClr val="F0F4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1564035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33D14-A1CA-FF17-5876-CC291539031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D568AAB-E61A-2B89-FA8F-817C525B7D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043996"/>
            <a:ext cx="10515600" cy="5354360"/>
          </a:xfrm>
          <a:prstGeom prst="rect">
            <a:avLst/>
          </a:prstGeom>
        </p:spPr>
      </p:pic>
      <p:sp>
        <p:nvSpPr>
          <p:cNvPr id="2" name="Title 1">
            <a:extLst>
              <a:ext uri="{FF2B5EF4-FFF2-40B4-BE49-F238E27FC236}">
                <a16:creationId xmlns:a16="http://schemas.microsoft.com/office/drawing/2014/main" id="{556871A7-D083-A79B-1EA2-D61E1A148251}"/>
              </a:ext>
            </a:extLst>
          </p:cNvPr>
          <p:cNvSpPr>
            <a:spLocks noGrp="1"/>
          </p:cNvSpPr>
          <p:nvPr>
            <p:ph type="title"/>
          </p:nvPr>
        </p:nvSpPr>
        <p:spPr>
          <a:xfrm>
            <a:off x="838200" y="333788"/>
            <a:ext cx="10515600" cy="502924"/>
          </a:xfrm>
        </p:spPr>
        <p:txBody>
          <a:bodyPr anchor="t">
            <a:normAutofit/>
          </a:bodyPr>
          <a:lstStyle/>
          <a:p>
            <a:r>
              <a:rPr lang="en-IN" sz="2800" b="1" u="sng" dirty="0">
                <a:latin typeface="Arial" panose="020B0604020202020204" pitchFamily="34" charset="0"/>
                <a:cs typeface="Arial" panose="020B0604020202020204" pitchFamily="34" charset="0"/>
              </a:rPr>
              <a:t>Architecture Blueprint</a:t>
            </a:r>
            <a:endParaRPr lang="en-IN" sz="1800" b="1" u="sng" dirty="0">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04C7632D-EFFB-B7C0-AAC3-15A289C882BB}"/>
              </a:ext>
            </a:extLst>
          </p:cNvPr>
          <p:cNvSpPr/>
          <p:nvPr/>
        </p:nvSpPr>
        <p:spPr>
          <a:xfrm>
            <a:off x="1055440" y="6093296"/>
            <a:ext cx="1440160" cy="216024"/>
          </a:xfrm>
          <a:prstGeom prst="rect">
            <a:avLst/>
          </a:prstGeom>
          <a:solidFill>
            <a:srgbClr val="F0F4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5826319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5BDD8-5C71-1C28-BFC8-1F1A2231F4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7899F9-75E0-0398-1856-8FB9C14151A4}"/>
              </a:ext>
            </a:extLst>
          </p:cNvPr>
          <p:cNvSpPr>
            <a:spLocks noGrp="1"/>
          </p:cNvSpPr>
          <p:nvPr>
            <p:ph type="title"/>
          </p:nvPr>
        </p:nvSpPr>
        <p:spPr>
          <a:xfrm>
            <a:off x="838200" y="333788"/>
            <a:ext cx="10515600" cy="502924"/>
          </a:xfrm>
        </p:spPr>
        <p:txBody>
          <a:bodyPr anchor="t">
            <a:normAutofit/>
          </a:bodyPr>
          <a:lstStyle/>
          <a:p>
            <a:r>
              <a:rPr lang="en-US" sz="2800" b="1" u="sng" dirty="0">
                <a:latin typeface="Arial" panose="020B0604020202020204" pitchFamily="34" charset="0"/>
                <a:cs typeface="Arial" panose="020B0604020202020204" pitchFamily="34" charset="0"/>
              </a:rPr>
              <a:t>Role of Agentic AI in the solution</a:t>
            </a:r>
            <a:endParaRPr lang="en-IN" sz="1800" b="1" u="sng"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9253E7DE-30EC-9A3A-0609-75C3C0BAE606}"/>
              </a:ext>
            </a:extLst>
          </p:cNvPr>
          <p:cNvSpPr txBox="1"/>
          <p:nvPr/>
        </p:nvSpPr>
        <p:spPr>
          <a:xfrm flipH="1">
            <a:off x="838198" y="836712"/>
            <a:ext cx="10515599" cy="5396349"/>
          </a:xfrm>
          <a:prstGeom prst="rect">
            <a:avLst/>
          </a:prstGeom>
          <a:noFill/>
        </p:spPr>
        <p:txBody>
          <a:bodyPr wrap="square" rtlCol="0">
            <a:spAutoFit/>
          </a:bodyPr>
          <a:lstStyle/>
          <a:p>
            <a:pPr>
              <a:lnSpc>
                <a:spcPct val="150000"/>
              </a:lnSpc>
            </a:pPr>
            <a:r>
              <a:rPr lang="en-US" dirty="0">
                <a:latin typeface="Arial" panose="020B0604020202020204" pitchFamily="34" charset="0"/>
                <a:cs typeface="Arial" panose="020B0604020202020204" pitchFamily="34" charset="0"/>
              </a:rPr>
              <a:t>Agentic AI enables FinGuide-AI to function as an intelligent, autonomous financial advisor rather than a simple chatbot. Using IBM Cloud and IBM Granite models, it coordinates multiple specialized agents to deliver personalized financial guidance.</a:t>
            </a:r>
          </a:p>
          <a:p>
            <a:pPr>
              <a:lnSpc>
                <a:spcPct val="150000"/>
              </a:lnSpc>
            </a:pPr>
            <a:endParaRPr lang="en-US" sz="1000" dirty="0">
              <a:latin typeface="Arial" panose="020B0604020202020204" pitchFamily="34" charset="0"/>
              <a:cs typeface="Arial" panose="020B0604020202020204" pitchFamily="34" charset="0"/>
            </a:endParaRPr>
          </a:p>
          <a:p>
            <a:pPr>
              <a:lnSpc>
                <a:spcPct val="150000"/>
              </a:lnSpc>
            </a:pPr>
            <a:r>
              <a:rPr lang="en-US" dirty="0">
                <a:latin typeface="Arial" panose="020B0604020202020204" pitchFamily="34" charset="0"/>
                <a:cs typeface="Arial" panose="020B0604020202020204" pitchFamily="34" charset="0"/>
              </a:rPr>
              <a:t>Each agent performs a specific role—such as retrieving verified banking data, generating budget plans, providing scam alerts, and translating responses—while working collaboratively. This multi-agent approach ensures efficient task execution and accurate results.</a:t>
            </a:r>
          </a:p>
          <a:p>
            <a:pPr>
              <a:lnSpc>
                <a:spcPct val="150000"/>
              </a:lnSpc>
            </a:pPr>
            <a:endParaRPr lang="en-US" sz="1000" dirty="0">
              <a:latin typeface="Arial" panose="020B0604020202020204" pitchFamily="34" charset="0"/>
              <a:cs typeface="Arial" panose="020B0604020202020204" pitchFamily="34" charset="0"/>
            </a:endParaRPr>
          </a:p>
          <a:p>
            <a:pPr>
              <a:lnSpc>
                <a:spcPct val="150000"/>
              </a:lnSpc>
            </a:pPr>
            <a:r>
              <a:rPr lang="en-US" dirty="0">
                <a:latin typeface="Arial" panose="020B0604020202020204" pitchFamily="34" charset="0"/>
                <a:cs typeface="Arial" panose="020B0604020202020204" pitchFamily="34" charset="0"/>
              </a:rPr>
              <a:t>Agentic AI also brings context awareness, understanding user backgrounds and preferred languages to generate tailored recommendations. It supports real-time adaptation, updating suggestions based on the user's specific financial queries.</a:t>
            </a:r>
          </a:p>
          <a:p>
            <a:pPr>
              <a:lnSpc>
                <a:spcPct val="150000"/>
              </a:lnSpc>
            </a:pPr>
            <a:endParaRPr lang="en-US" sz="1000" dirty="0">
              <a:latin typeface="Arial" panose="020B0604020202020204" pitchFamily="34" charset="0"/>
              <a:cs typeface="Arial" panose="020B0604020202020204" pitchFamily="34" charset="0"/>
            </a:endParaRPr>
          </a:p>
          <a:p>
            <a:pPr>
              <a:lnSpc>
                <a:spcPct val="150000"/>
              </a:lnSpc>
            </a:pPr>
            <a:r>
              <a:rPr lang="en-US" dirty="0">
                <a:latin typeface="Arial" panose="020B0604020202020204" pitchFamily="34" charset="0"/>
                <a:cs typeface="Arial" panose="020B0604020202020204" pitchFamily="34" charset="0"/>
              </a:rPr>
              <a:t>Overall, Agentic AI makes the system proactive, personalized, and goal-driven, acting like a smart digital financial advisor that protects users from fraud and builds financial confidence.</a:t>
            </a:r>
          </a:p>
        </p:txBody>
      </p:sp>
    </p:spTree>
    <p:extLst>
      <p:ext uri="{BB962C8B-B14F-4D97-AF65-F5344CB8AC3E}">
        <p14:creationId xmlns:p14="http://schemas.microsoft.com/office/powerpoint/2010/main" val="39590539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49BF4-DF1C-7FC1-7A6E-C626D281B7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821260-2134-9525-DAAB-80DB11A5A9E3}"/>
              </a:ext>
            </a:extLst>
          </p:cNvPr>
          <p:cNvSpPr>
            <a:spLocks noGrp="1"/>
          </p:cNvSpPr>
          <p:nvPr>
            <p:ph type="title"/>
          </p:nvPr>
        </p:nvSpPr>
        <p:spPr>
          <a:xfrm>
            <a:off x="838200" y="333788"/>
            <a:ext cx="10515600" cy="502924"/>
          </a:xfrm>
        </p:spPr>
        <p:txBody>
          <a:bodyPr anchor="t">
            <a:normAutofit/>
          </a:bodyPr>
          <a:lstStyle/>
          <a:p>
            <a:r>
              <a:rPr lang="en-US" sz="2800" b="1" u="sng" dirty="0">
                <a:latin typeface="Arial" panose="020B0604020202020204" pitchFamily="34" charset="0"/>
                <a:cs typeface="Arial" panose="020B0604020202020204" pitchFamily="34" charset="0"/>
              </a:rPr>
              <a:t>Token Usage</a:t>
            </a:r>
            <a:endParaRPr lang="en-IN" sz="1800" b="1" u="sng" dirty="0">
              <a:latin typeface="Arial" panose="020B0604020202020204" pitchFamily="34" charset="0"/>
              <a:cs typeface="Arial" panose="020B0604020202020204" pitchFamily="34" charset="0"/>
            </a:endParaRPr>
          </a:p>
        </p:txBody>
      </p:sp>
      <p:grpSp>
        <p:nvGrpSpPr>
          <p:cNvPr id="8" name="Group 7">
            <a:extLst>
              <a:ext uri="{FF2B5EF4-FFF2-40B4-BE49-F238E27FC236}">
                <a16:creationId xmlns:a16="http://schemas.microsoft.com/office/drawing/2014/main" id="{CC62A9C2-C0D2-0A95-619F-C4B0BE8DAD98}"/>
              </a:ext>
            </a:extLst>
          </p:cNvPr>
          <p:cNvGrpSpPr/>
          <p:nvPr/>
        </p:nvGrpSpPr>
        <p:grpSpPr>
          <a:xfrm>
            <a:off x="685613" y="1748142"/>
            <a:ext cx="10820775" cy="3361716"/>
            <a:chOff x="695399" y="1628800"/>
            <a:chExt cx="10820775" cy="3361716"/>
          </a:xfrm>
        </p:grpSpPr>
        <p:pic>
          <p:nvPicPr>
            <p:cNvPr id="4" name="Picture 3">
              <a:extLst>
                <a:ext uri="{FF2B5EF4-FFF2-40B4-BE49-F238E27FC236}">
                  <a16:creationId xmlns:a16="http://schemas.microsoft.com/office/drawing/2014/main" id="{5C2B8DEA-D363-D43A-7E6A-28E21F0A2C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5399" y="1628800"/>
              <a:ext cx="5359525" cy="3349703"/>
            </a:xfrm>
            <a:prstGeom prst="rect">
              <a:avLst/>
            </a:prstGeom>
            <a:ln w="38100">
              <a:solidFill>
                <a:schemeClr val="tx1"/>
              </a:solidFill>
            </a:ln>
          </p:spPr>
        </p:pic>
        <p:pic>
          <p:nvPicPr>
            <p:cNvPr id="7" name="Picture 6">
              <a:extLst>
                <a:ext uri="{FF2B5EF4-FFF2-40B4-BE49-F238E27FC236}">
                  <a16:creationId xmlns:a16="http://schemas.microsoft.com/office/drawing/2014/main" id="{49CE09FD-383B-564C-AD9C-6AE3B23199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56649" y="1640813"/>
              <a:ext cx="5359525" cy="3349703"/>
            </a:xfrm>
            <a:prstGeom prst="rect">
              <a:avLst/>
            </a:prstGeom>
            <a:ln w="38100">
              <a:solidFill>
                <a:schemeClr val="tx1"/>
              </a:solidFill>
            </a:ln>
          </p:spPr>
        </p:pic>
      </p:grpSp>
      <p:sp>
        <p:nvSpPr>
          <p:cNvPr id="9" name="TextBox 8">
            <a:extLst>
              <a:ext uri="{FF2B5EF4-FFF2-40B4-BE49-F238E27FC236}">
                <a16:creationId xmlns:a16="http://schemas.microsoft.com/office/drawing/2014/main" id="{02934EF4-BA8B-E0FA-A0AE-416F1D021F3E}"/>
              </a:ext>
            </a:extLst>
          </p:cNvPr>
          <p:cNvSpPr txBox="1"/>
          <p:nvPr/>
        </p:nvSpPr>
        <p:spPr>
          <a:xfrm>
            <a:off x="685613" y="1139991"/>
            <a:ext cx="1672253" cy="369332"/>
          </a:xfrm>
          <a:prstGeom prst="rect">
            <a:avLst/>
          </a:prstGeom>
          <a:noFill/>
        </p:spPr>
        <p:txBody>
          <a:bodyPr wrap="none" rtlCol="0">
            <a:spAutoFit/>
          </a:bodyPr>
          <a:lstStyle/>
          <a:p>
            <a:r>
              <a:rPr lang="en-US" u="sng" dirty="0">
                <a:latin typeface="Arial" panose="020B0604020202020204" pitchFamily="34" charset="0"/>
                <a:cs typeface="Arial" panose="020B0604020202020204" pitchFamily="34" charset="0"/>
              </a:rPr>
              <a:t>Before Prompt</a:t>
            </a:r>
            <a:endParaRPr lang="en-IN" u="sng"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3DC3BA5D-6A82-1761-DEA8-5C5C6AD973E1}"/>
              </a:ext>
            </a:extLst>
          </p:cNvPr>
          <p:cNvSpPr txBox="1"/>
          <p:nvPr/>
        </p:nvSpPr>
        <p:spPr>
          <a:xfrm>
            <a:off x="6096000" y="1187460"/>
            <a:ext cx="1479892" cy="369332"/>
          </a:xfrm>
          <a:prstGeom prst="rect">
            <a:avLst/>
          </a:prstGeom>
          <a:noFill/>
        </p:spPr>
        <p:txBody>
          <a:bodyPr wrap="none" rtlCol="0">
            <a:spAutoFit/>
          </a:bodyPr>
          <a:lstStyle/>
          <a:p>
            <a:r>
              <a:rPr lang="en-US" u="sng" dirty="0">
                <a:latin typeface="Arial" panose="020B0604020202020204" pitchFamily="34" charset="0"/>
                <a:cs typeface="Arial" panose="020B0604020202020204" pitchFamily="34" charset="0"/>
              </a:rPr>
              <a:t>After Prompt</a:t>
            </a:r>
            <a:endParaRPr lang="en-IN" u="sng"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623420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17A75-D229-AC92-E4E5-2E8855B3F0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A6CD2A-46DB-3403-6DE8-84E38F66C9A5}"/>
              </a:ext>
            </a:extLst>
          </p:cNvPr>
          <p:cNvSpPr>
            <a:spLocks noGrp="1"/>
          </p:cNvSpPr>
          <p:nvPr>
            <p:ph type="title"/>
          </p:nvPr>
        </p:nvSpPr>
        <p:spPr>
          <a:xfrm>
            <a:off x="838200" y="333788"/>
            <a:ext cx="10515600" cy="502924"/>
          </a:xfrm>
        </p:spPr>
        <p:txBody>
          <a:bodyPr anchor="t">
            <a:normAutofit/>
          </a:bodyPr>
          <a:lstStyle/>
          <a:p>
            <a:r>
              <a:rPr lang="en-US" sz="2800" b="1" u="sng" dirty="0">
                <a:latin typeface="Arial" panose="020B0604020202020204" pitchFamily="34" charset="0"/>
                <a:cs typeface="Arial" panose="020B0604020202020204" pitchFamily="34" charset="0"/>
              </a:rPr>
              <a:t>Novelty and Uniqueness</a:t>
            </a:r>
            <a:endParaRPr lang="en-IN" sz="1800" b="1" u="sng"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CC7BE1DD-9182-C3D9-75F3-85287F50CB92}"/>
              </a:ext>
            </a:extLst>
          </p:cNvPr>
          <p:cNvSpPr txBox="1"/>
          <p:nvPr/>
        </p:nvSpPr>
        <p:spPr>
          <a:xfrm flipH="1">
            <a:off x="838198" y="836712"/>
            <a:ext cx="10515599" cy="5858014"/>
          </a:xfrm>
          <a:prstGeom prst="rect">
            <a:avLst/>
          </a:prstGeom>
          <a:noFill/>
        </p:spPr>
        <p:txBody>
          <a:bodyPr wrap="square" rtlCol="0">
            <a:spAutoFit/>
          </a:bodyPr>
          <a:lstStyle/>
          <a:p>
            <a:pPr>
              <a:lnSpc>
                <a:spcPct val="150000"/>
              </a:lnSpc>
            </a:pPr>
            <a:r>
              <a:rPr lang="en-US" dirty="0">
                <a:latin typeface="Arial" panose="020B0604020202020204" pitchFamily="34" charset="0"/>
                <a:cs typeface="Arial" panose="020B0604020202020204" pitchFamily="34" charset="0"/>
              </a:rPr>
              <a:t>The proposed FinGuide-AI stands out by combining Agentic AI, RAG, and multilingual support into a single intelligent financial literacy system.</a:t>
            </a:r>
            <a:endParaRPr lang="en-US" sz="10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b="1" dirty="0">
                <a:latin typeface="Arial" panose="020B0604020202020204" pitchFamily="34" charset="0"/>
                <a:cs typeface="Arial" panose="020B0604020202020204" pitchFamily="34" charset="0"/>
              </a:rPr>
              <a:t>Multi-Agent Intelligence:</a:t>
            </a:r>
            <a:r>
              <a:rPr lang="en-US" dirty="0">
                <a:latin typeface="Arial" panose="020B0604020202020204" pitchFamily="34" charset="0"/>
                <a:cs typeface="Arial" panose="020B0604020202020204" pitchFamily="34" charset="0"/>
              </a:rPr>
              <a:t> Instead of a single chatbot, specialized agents collaborate to deliver accurate, context-aware financial guidance.</a:t>
            </a:r>
          </a:p>
          <a:p>
            <a:pPr marL="285750" indent="-285750">
              <a:lnSpc>
                <a:spcPct val="150000"/>
              </a:lnSpc>
              <a:buFont typeface="Arial" panose="020B0604020202020204" pitchFamily="34" charset="0"/>
              <a:buChar char="•"/>
            </a:pPr>
            <a:r>
              <a:rPr lang="en-US" b="1" dirty="0">
                <a:latin typeface="Arial" panose="020B0604020202020204" pitchFamily="34" charset="0"/>
                <a:cs typeface="Arial" panose="020B0604020202020204" pitchFamily="34" charset="0"/>
              </a:rPr>
              <a:t>RAG-Based Accuracy:</a:t>
            </a:r>
            <a:r>
              <a:rPr lang="en-US" dirty="0">
                <a:latin typeface="Arial" panose="020B0604020202020204" pitchFamily="34" charset="0"/>
                <a:cs typeface="Arial" panose="020B0604020202020204" pitchFamily="34" charset="0"/>
              </a:rPr>
              <a:t> Integrates real-time data retrieval from trusted Gov/Bank sources with AI generation, reducing misinformation and preventing fraud.</a:t>
            </a:r>
          </a:p>
          <a:p>
            <a:pPr marL="285750" indent="-285750">
              <a:lnSpc>
                <a:spcPct val="150000"/>
              </a:lnSpc>
              <a:buFont typeface="Arial" panose="020B0604020202020204" pitchFamily="34" charset="0"/>
              <a:buChar char="•"/>
            </a:pPr>
            <a:r>
              <a:rPr lang="en-US" b="1" dirty="0">
                <a:latin typeface="Arial" panose="020B0604020202020204" pitchFamily="34" charset="0"/>
                <a:cs typeface="Arial" panose="020B0604020202020204" pitchFamily="34" charset="0"/>
              </a:rPr>
              <a:t>Hyper-Personalization &amp; Multilingual Support:</a:t>
            </a:r>
            <a:r>
              <a:rPr lang="en-US" dirty="0">
                <a:latin typeface="Arial" panose="020B0604020202020204" pitchFamily="34" charset="0"/>
                <a:cs typeface="Arial" panose="020B0604020202020204" pitchFamily="34" charset="0"/>
              </a:rPr>
              <a:t> Tailors financial advice based on user queries and preferred language, ensuring cultural inclusivity.</a:t>
            </a:r>
          </a:p>
          <a:p>
            <a:pPr marL="285750" indent="-285750">
              <a:lnSpc>
                <a:spcPct val="150000"/>
              </a:lnSpc>
              <a:buFont typeface="Arial" panose="020B0604020202020204" pitchFamily="34" charset="0"/>
              <a:buChar char="•"/>
            </a:pPr>
            <a:r>
              <a:rPr lang="en-US" b="1" dirty="0">
                <a:latin typeface="Arial" panose="020B0604020202020204" pitchFamily="34" charset="0"/>
                <a:cs typeface="Arial" panose="020B0604020202020204" pitchFamily="34" charset="0"/>
              </a:rPr>
              <a:t>Proactive Fraud Protection:</a:t>
            </a:r>
            <a:r>
              <a:rPr lang="en-US" dirty="0">
                <a:latin typeface="Arial" panose="020B0604020202020204" pitchFamily="34" charset="0"/>
                <a:cs typeface="Arial" panose="020B0604020202020204" pitchFamily="34" charset="0"/>
              </a:rPr>
              <a:t> Actively educates users on identifying and avoiding online financial scams.</a:t>
            </a:r>
          </a:p>
          <a:p>
            <a:pPr marL="285750" indent="-285750">
              <a:lnSpc>
                <a:spcPct val="150000"/>
              </a:lnSpc>
              <a:buFont typeface="Arial" panose="020B0604020202020204" pitchFamily="34" charset="0"/>
              <a:buChar char="•"/>
            </a:pPr>
            <a:r>
              <a:rPr lang="en-US" b="1" dirty="0">
                <a:latin typeface="Arial" panose="020B0604020202020204" pitchFamily="34" charset="0"/>
                <a:cs typeface="Arial" panose="020B0604020202020204" pitchFamily="34" charset="0"/>
              </a:rPr>
              <a:t>Scalable &amp; Secure:</a:t>
            </a:r>
            <a:r>
              <a:rPr lang="en-US" dirty="0">
                <a:latin typeface="Arial" panose="020B0604020202020204" pitchFamily="34" charset="0"/>
                <a:cs typeface="Arial" panose="020B0604020202020204" pitchFamily="34" charset="0"/>
              </a:rPr>
              <a:t> Built on IBM Cloud with IBM Granite models, ensuring reliability, security, and governance.</a:t>
            </a:r>
          </a:p>
          <a:p>
            <a:pPr>
              <a:lnSpc>
                <a:spcPct val="150000"/>
              </a:lnSpc>
            </a:pPr>
            <a:r>
              <a:rPr lang="en-US" dirty="0">
                <a:latin typeface="Arial" panose="020B0604020202020204" pitchFamily="34" charset="0"/>
                <a:cs typeface="Arial" panose="020B0604020202020204" pitchFamily="34" charset="0"/>
              </a:rPr>
              <a:t>This makes the solution a smart, adaptive, and proactive digital financial advisor, not just a static FAQ tool.</a:t>
            </a:r>
          </a:p>
        </p:txBody>
      </p:sp>
    </p:spTree>
    <p:extLst>
      <p:ext uri="{BB962C8B-B14F-4D97-AF65-F5344CB8AC3E}">
        <p14:creationId xmlns:p14="http://schemas.microsoft.com/office/powerpoint/2010/main" val="39270051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FF2A8-8B90-B805-2C1E-CB758BD36A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151C9C-64E0-2444-894B-CB484E5758F1}"/>
              </a:ext>
            </a:extLst>
          </p:cNvPr>
          <p:cNvSpPr>
            <a:spLocks noGrp="1"/>
          </p:cNvSpPr>
          <p:nvPr>
            <p:ph type="title"/>
          </p:nvPr>
        </p:nvSpPr>
        <p:spPr>
          <a:xfrm>
            <a:off x="838200" y="333788"/>
            <a:ext cx="10515600" cy="502924"/>
          </a:xfrm>
        </p:spPr>
        <p:txBody>
          <a:bodyPr anchor="t">
            <a:normAutofit/>
          </a:bodyPr>
          <a:lstStyle/>
          <a:p>
            <a:r>
              <a:rPr lang="en-US" sz="2800" b="1" u="sng" dirty="0">
                <a:latin typeface="Arial" panose="020B0604020202020204" pitchFamily="34" charset="0"/>
                <a:cs typeface="Arial" panose="020B0604020202020204" pitchFamily="34" charset="0"/>
              </a:rPr>
              <a:t>Git Hub Link &amp; Deployment</a:t>
            </a:r>
            <a:endParaRPr lang="en-IN" sz="1800" b="1" u="sng"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1AB59138-36D0-DE12-D93B-1B224A79CCE3}"/>
              </a:ext>
            </a:extLst>
          </p:cNvPr>
          <p:cNvSpPr txBox="1"/>
          <p:nvPr/>
        </p:nvSpPr>
        <p:spPr>
          <a:xfrm flipH="1">
            <a:off x="838198" y="836712"/>
            <a:ext cx="10515599" cy="5262979"/>
          </a:xfrm>
          <a:prstGeom prst="rect">
            <a:avLst/>
          </a:prstGeom>
          <a:noFill/>
        </p:spPr>
        <p:txBody>
          <a:bodyPr wrap="square" rtlCol="0">
            <a:spAutoFit/>
          </a:bodyPr>
          <a:lstStyle/>
          <a:p>
            <a:pPr>
              <a:lnSpc>
                <a:spcPct val="150000"/>
              </a:lnSpc>
            </a:pPr>
            <a:endParaRPr lang="en-US" sz="1000" b="1" dirty="0">
              <a:latin typeface="Arial" panose="020B0604020202020204" pitchFamily="34" charset="0"/>
              <a:cs typeface="Arial" panose="020B0604020202020204" pitchFamily="34" charset="0"/>
            </a:endParaRPr>
          </a:p>
          <a:p>
            <a:pPr>
              <a:lnSpc>
                <a:spcPct val="150000"/>
              </a:lnSpc>
            </a:pPr>
            <a:r>
              <a:rPr lang="en-US" b="1" dirty="0">
                <a:latin typeface="Arial" panose="020B0604020202020204" pitchFamily="34" charset="0"/>
                <a:cs typeface="Arial" panose="020B0604020202020204" pitchFamily="34" charset="0"/>
              </a:rPr>
              <a:t>GitHub Repository:</a:t>
            </a:r>
            <a:r>
              <a:rPr lang="en-US"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hlinkClick r:id="rId2"/>
              </a:rPr>
              <a:t>https://github.com/vardhineeditharak/FinGuide-Ai</a:t>
            </a:r>
            <a:endParaRPr lang="en-US" dirty="0">
              <a:latin typeface="Arial" panose="020B0604020202020204" pitchFamily="34" charset="0"/>
              <a:cs typeface="Arial" panose="020B0604020202020204" pitchFamily="34" charset="0"/>
            </a:endParaRPr>
          </a:p>
          <a:p>
            <a:pPr>
              <a:lnSpc>
                <a:spcPct val="150000"/>
              </a:lnSpc>
            </a:pPr>
            <a:endParaRPr lang="en-US" sz="1000" dirty="0">
              <a:latin typeface="Arial" panose="020B0604020202020204" pitchFamily="34" charset="0"/>
              <a:cs typeface="Arial" panose="020B0604020202020204" pitchFamily="34" charset="0"/>
            </a:endParaRPr>
          </a:p>
          <a:p>
            <a:pPr>
              <a:lnSpc>
                <a:spcPct val="150000"/>
              </a:lnSpc>
            </a:pPr>
            <a:r>
              <a:rPr lang="en-US" b="1" dirty="0">
                <a:latin typeface="Arial" panose="020B0604020202020204" pitchFamily="34" charset="0"/>
                <a:cs typeface="Arial" panose="020B0604020202020204" pitchFamily="34" charset="0"/>
              </a:rPr>
              <a:t>Deployed Application:</a:t>
            </a:r>
            <a:r>
              <a:rPr lang="en-US"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hlinkClick r:id="rId3"/>
              </a:rPr>
              <a:t>https://fin-guide-ai-six.vercel.app/</a:t>
            </a:r>
            <a:endParaRPr lang="en-US" dirty="0">
              <a:latin typeface="Arial" panose="020B0604020202020204" pitchFamily="34" charset="0"/>
              <a:cs typeface="Arial" panose="020B0604020202020204" pitchFamily="34" charset="0"/>
            </a:endParaRPr>
          </a:p>
          <a:p>
            <a:pPr>
              <a:lnSpc>
                <a:spcPct val="150000"/>
              </a:lnSpc>
            </a:pPr>
            <a:endParaRPr lang="en-US" sz="1000" dirty="0">
              <a:latin typeface="Arial" panose="020B0604020202020204" pitchFamily="34" charset="0"/>
              <a:cs typeface="Arial" panose="020B0604020202020204" pitchFamily="34" charset="0"/>
            </a:endParaRPr>
          </a:p>
          <a:p>
            <a:pPr>
              <a:lnSpc>
                <a:spcPct val="150000"/>
              </a:lnSpc>
            </a:pPr>
            <a:r>
              <a:rPr lang="en-US" b="1" dirty="0">
                <a:latin typeface="Arial" panose="020B0604020202020204" pitchFamily="34" charset="0"/>
                <a:cs typeface="Arial" panose="020B0604020202020204" pitchFamily="34" charset="0"/>
              </a:rPr>
              <a:t>Repository Contents:</a:t>
            </a:r>
          </a:p>
          <a:p>
            <a:r>
              <a:rPr lang="en-IN" dirty="0">
                <a:latin typeface="Consolas" panose="020B0609020204030204" pitchFamily="49" charset="0"/>
              </a:rPr>
              <a:t>fin-literacy-agent/</a:t>
            </a:r>
          </a:p>
          <a:p>
            <a:r>
              <a:rPr lang="en-IN" dirty="0">
                <a:latin typeface="Consolas" panose="020B0609020204030204" pitchFamily="49" charset="0"/>
              </a:rPr>
              <a:t>├── app.py              # Flask app + chat API endpoint</a:t>
            </a:r>
          </a:p>
          <a:p>
            <a:r>
              <a:rPr lang="en-IN" dirty="0">
                <a:latin typeface="Consolas" panose="020B0609020204030204" pitchFamily="49" charset="0"/>
              </a:rPr>
              <a:t>├── rag_pipeline.py     # Retrieval + Granite generation logic</a:t>
            </a:r>
          </a:p>
          <a:p>
            <a:r>
              <a:rPr lang="en-IN" dirty="0">
                <a:latin typeface="Consolas" panose="020B0609020204030204" pitchFamily="49" charset="0"/>
              </a:rPr>
              <a:t>├── ingest.py           # Builds the vector knowledge base from /data</a:t>
            </a:r>
          </a:p>
          <a:p>
            <a:r>
              <a:rPr lang="en-IN" dirty="0">
                <a:latin typeface="Consolas" panose="020B0609020204030204" pitchFamily="49" charset="0"/>
              </a:rPr>
              <a:t>├── data/               # Curated source documents (UPI, scams, loans, budgeting)</a:t>
            </a:r>
          </a:p>
          <a:p>
            <a:r>
              <a:rPr lang="en-IN" dirty="0">
                <a:latin typeface="Consolas" panose="020B0609020204030204" pitchFamily="49" charset="0"/>
              </a:rPr>
              <a:t>├── </a:t>
            </a:r>
            <a:r>
              <a:rPr lang="en-IN" dirty="0" err="1">
                <a:latin typeface="Consolas" panose="020B0609020204030204" pitchFamily="49" charset="0"/>
              </a:rPr>
              <a:t>vectorstore</a:t>
            </a:r>
            <a:r>
              <a:rPr lang="en-IN" dirty="0">
                <a:latin typeface="Consolas" panose="020B0609020204030204" pitchFamily="49" charset="0"/>
              </a:rPr>
              <a:t>/        	# Chroma persistent DB &amp; SQLite DB</a:t>
            </a:r>
          </a:p>
          <a:p>
            <a:r>
              <a:rPr lang="en-IN" dirty="0">
                <a:latin typeface="Consolas" panose="020B0609020204030204" pitchFamily="49" charset="0"/>
              </a:rPr>
              <a:t>├── templates/index.html 	# Chat UI</a:t>
            </a:r>
          </a:p>
          <a:p>
            <a:r>
              <a:rPr lang="en-IN" dirty="0">
                <a:latin typeface="Consolas" panose="020B0609020204030204" pitchFamily="49" charset="0"/>
              </a:rPr>
              <a:t>├── static/style.css      	# Chat UI styling</a:t>
            </a:r>
          </a:p>
          <a:p>
            <a:r>
              <a:rPr lang="en-IN" dirty="0">
                <a:latin typeface="Consolas" panose="020B0609020204030204" pitchFamily="49" charset="0"/>
              </a:rPr>
              <a:t>├── static/script.js      	# Chat UI logic</a:t>
            </a:r>
          </a:p>
          <a:p>
            <a:r>
              <a:rPr lang="en-IN" dirty="0">
                <a:latin typeface="Consolas" panose="020B0609020204030204" pitchFamily="49" charset="0"/>
              </a:rPr>
              <a:t>├── requirements.txt</a:t>
            </a:r>
          </a:p>
          <a:p>
            <a:r>
              <a:rPr lang="en-IN" dirty="0">
                <a:latin typeface="Consolas" panose="020B0609020204030204" pitchFamily="49" charset="0"/>
              </a:rPr>
              <a:t>└── .</a:t>
            </a:r>
            <a:r>
              <a:rPr lang="en-IN" dirty="0" err="1">
                <a:latin typeface="Consolas" panose="020B0609020204030204" pitchFamily="49" charset="0"/>
              </a:rPr>
              <a:t>env.example</a:t>
            </a:r>
            <a:endParaRPr lang="en-IN" dirty="0">
              <a:latin typeface="Consolas" panose="020B0609020204030204" pitchFamily="49" charset="0"/>
            </a:endParaRPr>
          </a:p>
        </p:txBody>
      </p:sp>
    </p:spTree>
    <p:extLst>
      <p:ext uri="{BB962C8B-B14F-4D97-AF65-F5344CB8AC3E}">
        <p14:creationId xmlns:p14="http://schemas.microsoft.com/office/powerpoint/2010/main" val="16317984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22542-09FF-4CB1-9ED0-5117B556AE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283406-3973-77FC-726E-A342E1A678B9}"/>
              </a:ext>
            </a:extLst>
          </p:cNvPr>
          <p:cNvSpPr>
            <a:spLocks noGrp="1"/>
          </p:cNvSpPr>
          <p:nvPr>
            <p:ph type="title"/>
          </p:nvPr>
        </p:nvSpPr>
        <p:spPr>
          <a:xfrm>
            <a:off x="838200" y="333788"/>
            <a:ext cx="10515600" cy="502924"/>
          </a:xfrm>
        </p:spPr>
        <p:txBody>
          <a:bodyPr anchor="t">
            <a:normAutofit/>
          </a:bodyPr>
          <a:lstStyle/>
          <a:p>
            <a:r>
              <a:rPr lang="en-US" sz="2800" b="1" u="sng" dirty="0">
                <a:latin typeface="Arial" panose="020B0604020202020204" pitchFamily="34" charset="0"/>
                <a:cs typeface="Arial" panose="020B0604020202020204" pitchFamily="34" charset="0"/>
              </a:rPr>
              <a:t>Future Scope</a:t>
            </a:r>
            <a:endParaRPr lang="en-IN" sz="1800" b="1" u="sng"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86506B69-308A-0DD1-6FF7-6A963A4151E7}"/>
              </a:ext>
            </a:extLst>
          </p:cNvPr>
          <p:cNvSpPr txBox="1"/>
          <p:nvPr/>
        </p:nvSpPr>
        <p:spPr>
          <a:xfrm flipH="1">
            <a:off x="838198" y="836712"/>
            <a:ext cx="10515599" cy="4057521"/>
          </a:xfrm>
          <a:prstGeom prst="rect">
            <a:avLst/>
          </a:prstGeom>
          <a:noFill/>
        </p:spPr>
        <p:txBody>
          <a:bodyPr wrap="square" rtlCol="0">
            <a:spAutoFit/>
          </a:bodyPr>
          <a:lstStyle/>
          <a:p>
            <a:pPr marL="342900" indent="-342900">
              <a:lnSpc>
                <a:spcPct val="150000"/>
              </a:lnSpc>
              <a:buFont typeface="+mj-lt"/>
              <a:buAutoNum type="arabicPeriod"/>
            </a:pPr>
            <a:endParaRPr lang="en-US" sz="1000" b="1" dirty="0">
              <a:latin typeface="Arial" panose="020B0604020202020204" pitchFamily="34" charset="0"/>
              <a:cs typeface="Arial" panose="020B0604020202020204" pitchFamily="34" charset="0"/>
            </a:endParaRPr>
          </a:p>
          <a:p>
            <a:pPr marL="342900" indent="-342900">
              <a:lnSpc>
                <a:spcPct val="150000"/>
              </a:lnSpc>
              <a:buFont typeface="+mj-lt"/>
              <a:buAutoNum type="arabicPeriod"/>
            </a:pPr>
            <a:r>
              <a:rPr lang="en-US" b="1" dirty="0">
                <a:latin typeface="Arial" panose="020B0604020202020204" pitchFamily="34" charset="0"/>
                <a:cs typeface="Arial" panose="020B0604020202020204" pitchFamily="34" charset="0"/>
              </a:rPr>
              <a:t>Integration with Banking APIs: </a:t>
            </a:r>
            <a:r>
              <a:rPr lang="en-US" dirty="0">
                <a:latin typeface="Arial" panose="020B0604020202020204" pitchFamily="34" charset="0"/>
                <a:cs typeface="Arial" panose="020B0604020202020204" pitchFamily="34" charset="0"/>
              </a:rPr>
              <a:t>The system can be integrated with secure banking APIs (like Account Aggregator) to provide highly personalized budgeting and expense tracking based on actual user transaction history.</a:t>
            </a:r>
          </a:p>
          <a:p>
            <a:pPr marL="342900" indent="-342900">
              <a:lnSpc>
                <a:spcPct val="150000"/>
              </a:lnSpc>
              <a:buFont typeface="+mj-lt"/>
              <a:buAutoNum type="arabicPeriod"/>
            </a:pPr>
            <a:endParaRPr lang="en-US" sz="1000" dirty="0">
              <a:latin typeface="Arial" panose="020B0604020202020204" pitchFamily="34" charset="0"/>
              <a:cs typeface="Arial" panose="020B0604020202020204" pitchFamily="34" charset="0"/>
            </a:endParaRPr>
          </a:p>
          <a:p>
            <a:pPr marL="342900" indent="-342900">
              <a:lnSpc>
                <a:spcPct val="150000"/>
              </a:lnSpc>
              <a:buFont typeface="+mj-lt"/>
              <a:buAutoNum type="arabicPeriod"/>
            </a:pPr>
            <a:r>
              <a:rPr lang="en-US" b="1" dirty="0">
                <a:latin typeface="Arial" panose="020B0604020202020204" pitchFamily="34" charset="0"/>
                <a:cs typeface="Arial" panose="020B0604020202020204" pitchFamily="34" charset="0"/>
              </a:rPr>
              <a:t>AI-Powered Voice Assistant &amp; Regional Dialect Support: </a:t>
            </a:r>
            <a:r>
              <a:rPr lang="en-US" dirty="0">
                <a:latin typeface="Arial" panose="020B0604020202020204" pitchFamily="34" charset="0"/>
                <a:cs typeface="Arial" panose="020B0604020202020204" pitchFamily="34" charset="0"/>
              </a:rPr>
              <a:t>Enhancing the system with voice-enabled interaction and support for deeper regional dialects will improve accessibility for rural populations and visually impaired users.</a:t>
            </a:r>
          </a:p>
          <a:p>
            <a:pPr marL="342900" indent="-342900">
              <a:lnSpc>
                <a:spcPct val="150000"/>
              </a:lnSpc>
              <a:buFont typeface="+mj-lt"/>
              <a:buAutoNum type="arabicPeriod"/>
            </a:pPr>
            <a:endParaRPr lang="en-US" sz="1000" dirty="0">
              <a:latin typeface="Arial" panose="020B0604020202020204" pitchFamily="34" charset="0"/>
              <a:cs typeface="Arial" panose="020B0604020202020204" pitchFamily="34" charset="0"/>
            </a:endParaRPr>
          </a:p>
          <a:p>
            <a:pPr marL="342900" indent="-342900">
              <a:lnSpc>
                <a:spcPct val="150000"/>
              </a:lnSpc>
              <a:buFont typeface="+mj-lt"/>
              <a:buAutoNum type="arabicPeriod"/>
            </a:pPr>
            <a:r>
              <a:rPr lang="en-US" b="1" dirty="0">
                <a:latin typeface="Arial" panose="020B0604020202020204" pitchFamily="34" charset="0"/>
                <a:cs typeface="Arial" panose="020B0604020202020204" pitchFamily="34" charset="0"/>
              </a:rPr>
              <a:t>Real-Time Scam Alert Notifications: </a:t>
            </a:r>
            <a:r>
              <a:rPr lang="en-US" dirty="0">
                <a:latin typeface="Arial" panose="020B0604020202020204" pitchFamily="34" charset="0"/>
                <a:cs typeface="Arial" panose="020B0604020202020204" pitchFamily="34" charset="0"/>
              </a:rPr>
              <a:t>Implementing a proactive alert system that notifies users of newly emerging digital financial frauds in their specific region.</a:t>
            </a:r>
          </a:p>
        </p:txBody>
      </p:sp>
    </p:spTree>
    <p:extLst>
      <p:ext uri="{BB962C8B-B14F-4D97-AF65-F5344CB8AC3E}">
        <p14:creationId xmlns:p14="http://schemas.microsoft.com/office/powerpoint/2010/main" val="9757595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84192-18F5-F25B-7EA2-1C798FE2FA89}"/>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A5FC96FF-B292-35F9-39E5-484ED95158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06578" y="836709"/>
            <a:ext cx="7578841" cy="5856377"/>
          </a:xfrm>
          <a:prstGeom prst="rect">
            <a:avLst/>
          </a:prstGeom>
        </p:spPr>
      </p:pic>
      <p:sp>
        <p:nvSpPr>
          <p:cNvPr id="2" name="Title 1">
            <a:extLst>
              <a:ext uri="{FF2B5EF4-FFF2-40B4-BE49-F238E27FC236}">
                <a16:creationId xmlns:a16="http://schemas.microsoft.com/office/drawing/2014/main" id="{C23FE427-7589-09AB-4913-0B37FDA69EB8}"/>
              </a:ext>
            </a:extLst>
          </p:cNvPr>
          <p:cNvSpPr>
            <a:spLocks noGrp="1"/>
          </p:cNvSpPr>
          <p:nvPr>
            <p:ph type="title"/>
          </p:nvPr>
        </p:nvSpPr>
        <p:spPr>
          <a:xfrm>
            <a:off x="838200" y="333788"/>
            <a:ext cx="10515600" cy="502924"/>
          </a:xfrm>
        </p:spPr>
        <p:txBody>
          <a:bodyPr anchor="t">
            <a:normAutofit/>
          </a:bodyPr>
          <a:lstStyle/>
          <a:p>
            <a:r>
              <a:rPr lang="en-US" sz="2800" b="1" u="sng" dirty="0">
                <a:latin typeface="Arial" panose="020B0604020202020204" pitchFamily="34" charset="0"/>
                <a:cs typeface="Arial" panose="020B0604020202020204" pitchFamily="34" charset="0"/>
              </a:rPr>
              <a:t>Certificates Earned</a:t>
            </a:r>
            <a:endParaRPr lang="en-IN" sz="1800" b="1" u="sng"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481847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C59BE-5F41-5189-F765-8487B8FDFB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273CF5-05DB-5589-BC97-7321C334A70A}"/>
              </a:ext>
            </a:extLst>
          </p:cNvPr>
          <p:cNvSpPr>
            <a:spLocks noGrp="1"/>
          </p:cNvSpPr>
          <p:nvPr>
            <p:ph type="title"/>
          </p:nvPr>
        </p:nvSpPr>
        <p:spPr>
          <a:xfrm>
            <a:off x="838200" y="333788"/>
            <a:ext cx="10515600" cy="502924"/>
          </a:xfrm>
        </p:spPr>
        <p:txBody>
          <a:bodyPr anchor="t">
            <a:normAutofit/>
          </a:bodyPr>
          <a:lstStyle/>
          <a:p>
            <a:r>
              <a:rPr lang="en-US" sz="2800" b="1" u="sng" dirty="0">
                <a:latin typeface="Arial" panose="020B0604020202020204" pitchFamily="34" charset="0"/>
                <a:cs typeface="Arial" panose="020B0604020202020204" pitchFamily="34" charset="0"/>
              </a:rPr>
              <a:t>Certificates Earned</a:t>
            </a:r>
            <a:endParaRPr lang="en-IN" sz="1800" b="1" u="sng" dirty="0">
              <a:latin typeface="Arial" panose="020B0604020202020204" pitchFamily="34" charset="0"/>
              <a:cs typeface="Arial" panose="020B0604020202020204" pitchFamily="34" charset="0"/>
            </a:endParaRPr>
          </a:p>
        </p:txBody>
      </p:sp>
      <p:pic>
        <p:nvPicPr>
          <p:cNvPr id="4" name="Picture 3" descr="&#10;">
            <a:extLst>
              <a:ext uri="{FF2B5EF4-FFF2-40B4-BE49-F238E27FC236}">
                <a16:creationId xmlns:a16="http://schemas.microsoft.com/office/drawing/2014/main" id="{A88306A6-21BA-1CF0-AA68-137E714089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27548" y="915039"/>
            <a:ext cx="8136904" cy="5017464"/>
          </a:xfrm>
          <a:prstGeom prst="rect">
            <a:avLst/>
          </a:prstGeom>
        </p:spPr>
      </p:pic>
      <p:sp>
        <p:nvSpPr>
          <p:cNvPr id="11" name="TextBox 10">
            <a:extLst>
              <a:ext uri="{FF2B5EF4-FFF2-40B4-BE49-F238E27FC236}">
                <a16:creationId xmlns:a16="http://schemas.microsoft.com/office/drawing/2014/main" id="{1E9AF8B3-93D2-CBE3-A044-6D761BC4E410}"/>
              </a:ext>
            </a:extLst>
          </p:cNvPr>
          <p:cNvSpPr txBox="1"/>
          <p:nvPr/>
        </p:nvSpPr>
        <p:spPr>
          <a:xfrm>
            <a:off x="4296290" y="5932503"/>
            <a:ext cx="3599420" cy="338554"/>
          </a:xfrm>
          <a:prstGeom prst="rect">
            <a:avLst/>
          </a:prstGeom>
          <a:noFill/>
        </p:spPr>
        <p:txBody>
          <a:bodyPr wrap="square" rtlCol="0">
            <a:spAutoFit/>
          </a:bodyPr>
          <a:lstStyle/>
          <a:p>
            <a:pPr algn="ctr"/>
            <a:r>
              <a:rPr lang="en-US" sz="1600" b="1" u="sng" dirty="0">
                <a:latin typeface="Arial" panose="020B0604020202020204" pitchFamily="34" charset="0"/>
                <a:cs typeface="Arial" panose="020B0604020202020204" pitchFamily="34" charset="0"/>
              </a:rPr>
              <a:t>IBM Bob Certificate</a:t>
            </a:r>
            <a:endParaRPr lang="en-IN" sz="1600" b="1" u="sng"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450595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BF69903-2842-6D87-4DF8-BB839327762F}"/>
              </a:ext>
            </a:extLst>
          </p:cNvPr>
          <p:cNvSpPr txBox="1"/>
          <p:nvPr/>
        </p:nvSpPr>
        <p:spPr>
          <a:xfrm>
            <a:off x="2982776" y="2690336"/>
            <a:ext cx="6226448" cy="1723549"/>
          </a:xfrm>
          <a:prstGeom prst="rect">
            <a:avLst/>
          </a:prstGeom>
          <a:noFill/>
        </p:spPr>
        <p:txBody>
          <a:bodyPr wrap="none" rtlCol="0">
            <a:spAutoFit/>
          </a:bodyPr>
          <a:lstStyle/>
          <a:p>
            <a:pPr algn="ctr"/>
            <a:r>
              <a:rPr lang="en-US" sz="8800" b="1" dirty="0">
                <a:latin typeface="Book Antiqua" panose="02040602050305030304" pitchFamily="18" charset="0"/>
                <a:cs typeface="Arial" panose="020B0604020202020204" pitchFamily="34" charset="0"/>
              </a:rPr>
              <a:t>Thank You!</a:t>
            </a:r>
          </a:p>
          <a:p>
            <a:pPr algn="ctr"/>
            <a:r>
              <a:rPr lang="en-IN" dirty="0">
                <a:latin typeface="Arial" panose="020B0604020202020204" pitchFamily="34" charset="0"/>
                <a:cs typeface="Arial" panose="020B0604020202020204" pitchFamily="34" charset="0"/>
              </a:rPr>
              <a:t>Thank You for your Time and Interest</a:t>
            </a:r>
          </a:p>
        </p:txBody>
      </p:sp>
    </p:spTree>
    <p:extLst>
      <p:ext uri="{BB962C8B-B14F-4D97-AF65-F5344CB8AC3E}">
        <p14:creationId xmlns:p14="http://schemas.microsoft.com/office/powerpoint/2010/main" val="25531965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270</TotalTime>
  <Words>1223</Words>
  <Application>Microsoft Office PowerPoint</Application>
  <PresentationFormat>Widescreen</PresentationFormat>
  <Paragraphs>101</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Book Antiqua</vt:lpstr>
      <vt:lpstr>Calibri</vt:lpstr>
      <vt:lpstr>Calibri Light</vt:lpstr>
      <vt:lpstr>Consolas</vt:lpstr>
      <vt:lpstr>Office Theme</vt:lpstr>
      <vt:lpstr>PowerPoint Presentation</vt:lpstr>
      <vt:lpstr>Project Title – FinGuide-AI Domain of Project - Financial Literacy / FinTech</vt:lpstr>
      <vt:lpstr>Problem Statement - FinGuide-AI</vt:lpstr>
      <vt:lpstr>Proposed Solution - AI-Powered Financial Literacy Agent</vt:lpstr>
      <vt:lpstr>Technology Used</vt:lpstr>
      <vt:lpstr>Langflow Component Used</vt:lpstr>
      <vt:lpstr>Langflow Workflow</vt:lpstr>
      <vt:lpstr>Architecture Blueprint</vt:lpstr>
      <vt:lpstr>Role of Agentic AI in the solution</vt:lpstr>
      <vt:lpstr>Token Usage</vt:lpstr>
      <vt:lpstr>Novelty and Uniqueness</vt:lpstr>
      <vt:lpstr>Git Hub Link &amp; Deployment</vt:lpstr>
      <vt:lpstr>Future Scope</vt:lpstr>
      <vt:lpstr>Certificates Earned</vt:lpstr>
      <vt:lpstr>Certificates Earned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Vardhineedi Tharaka Venkata Gopal</dc:creator>
  <cp:lastModifiedBy>Vardhineedi Tharaka Venkata Gopal</cp:lastModifiedBy>
  <cp:revision>12</cp:revision>
  <dcterms:created xsi:type="dcterms:W3CDTF">2026-07-02T09:36:48Z</dcterms:created>
  <dcterms:modified xsi:type="dcterms:W3CDTF">2026-07-09T08:02:37Z</dcterms:modified>
</cp:coreProperties>
</file>